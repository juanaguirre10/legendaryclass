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7616952" cy="4663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3716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⚔️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40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LegendaryClass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12724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8B4FE"/>
                </a:solidFill>
              </a:rPr>
              <a:t>Sistema SaaS de Gamificación Educativa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657600"/>
            <a:ext cx="57881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794760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Diseño de Proyectos de Innovación  ·  Caso 3 — Parte Práctica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18795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Docente: Turkowsky Vizcarra, Luisa   ·   Alumno: Aguirre, Juan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553712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84FC"/>
                </a:solidFill>
              </a:rPr>
              <a:t>TECSUP  ·  Ingeniería de Software  ·  V Ciclo  ·  2026 - 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Descripción del 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B4FE"/>
                </a:solidFill>
              </a:rPr>
              <a:t>LegendaryClass — plataforma SaaS de gamificación para docentes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Transforma el aula en un RPG educativo. Los estudiantes eligen clase de personaje, acumulan XP, suben de nivel y canjean recompensas. El docente gestiona comportamientos, misiones y reportes.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2743200" cy="2606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⚔️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Clases RPG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Mago · Guerrero · Ninja
Arquero · Lanzador
+20 % XP por acción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40280"/>
            <a:ext cx="2743200" cy="2606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Motor de XP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9184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Niveles, racha diaria
logros automáticos
misiones configurables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240280"/>
            <a:ext cx="2743200" cy="2606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👩‍🏫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Panel Docente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Comportamientos
recompensas y
reportes por aula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240280"/>
            <a:ext cx="2743200" cy="2606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331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Panel Director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29184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Estadísticas globales
de la institución
en tiempo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10912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932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8B4FE"/>
                </a:solidFill>
              </a:rPr>
              <a:t>Stack:  Angular 18  ·  NestJS  ·  PostgreSQL  ·  Prisma  ·  TailwindCSS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589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Precio:  S/. 30 – 85 / mes por docente   ·   Sin costo para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B4FE"/>
                </a:solidFill>
              </a:rPr>
              <a:t>Encuesta a 100 docentes de Lima Metropolitana · feb–mar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5303520" cy="1600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898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B4FE"/>
                </a:solidFill>
              </a:rPr>
              <a:t>Encuesta de campo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105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· 100 docentes · Lima Metropolitana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· Google Forms · 20 preguntas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8716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· Periodo: febrero – marzo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298448"/>
            <a:ext cx="5605272" cy="1600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89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B4FE"/>
                </a:solidFill>
              </a:rPr>
              <a:t>Preguntas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105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Q4  —  Situación laboral            → Mercado Disponible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4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Q6  —  Baja motivación             → Mercado Efectivo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8716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Q13 —  Disposición gamificación  → Mercado Objetivo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2549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Q17 —  Disposición de pago        → Precio ponderado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63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Modelo de segmentación en cascada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0440"/>
            <a:ext cx="274320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30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33EA"/>
                </a:solidFill>
              </a:rPr>
              <a:t>Potencial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050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185,000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MINEDU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160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4155"/>
                </a:solidFill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520440"/>
            <a:ext cx="274320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52044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3630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Disponible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0050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177,600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× 96 %  (Q4)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160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4155"/>
                </a:solidFill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520440"/>
            <a:ext cx="274320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520440"/>
            <a:ext cx="274320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30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4FC"/>
                </a:solidFill>
              </a:rPr>
              <a:t>Efectivo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0050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103,008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× 58 %  (Q6)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160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4155"/>
                </a:solidFill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3520440"/>
            <a:ext cx="2743200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520440"/>
            <a:ext cx="2743200" cy="3657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3630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CC15"/>
                </a:solidFill>
              </a:rPr>
              <a:t>Objetivo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0050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82,406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× 80 %  (Q13)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Resultados de la Encuesta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B4FE"/>
                </a:solidFill>
              </a:rPr>
              <a:t>Preguntas clave para la segmentación de mercado  ·  n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Q6  —  Frecuencia de baja motivación estudiantil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59436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3241040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892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Siempre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5400" y="1892807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333EA"/>
                </a:solidFill>
              </a:rPr>
              <a:t>22 %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3768" y="191109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84FC"/>
                </a:solidFill>
              </a:rPr>
              <a:t>← filtro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50591"/>
            <a:ext cx="59436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450591"/>
            <a:ext cx="5303520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Frecuentemente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36 %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84FC"/>
                </a:solidFill>
              </a:rPr>
              <a:t>← filtro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18104"/>
            <a:ext cx="59436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118104"/>
            <a:ext cx="441960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227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 veces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3959" y="32278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85615"/>
            <a:ext cx="59436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785615"/>
            <a:ext cx="1178559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895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Raramente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2920" y="38953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8 %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453128"/>
            <a:ext cx="59436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453128"/>
            <a:ext cx="589279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562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Nunca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3640" y="45628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4 %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120640"/>
            <a:ext cx="594360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39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8B4FE"/>
                </a:solidFill>
              </a:rPr>
              <a:t>Siempre + Frecuentemente  =  58 %  →  Mercado Efectivo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2984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Hallazgos por pregunta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1783080"/>
            <a:ext cx="4754880" cy="868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1783080"/>
            <a:ext cx="475488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189280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33EA"/>
                </a:solidFill>
              </a:rPr>
              <a:t>Q4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1856231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96 %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1947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Trabajan en institución educativa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2807208"/>
            <a:ext cx="4754880" cy="868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40880" y="2807208"/>
            <a:ext cx="475488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29169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</a:rPr>
              <a:t>Q6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288036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58 %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Baja motivación frecuente/siempre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3831336"/>
            <a:ext cx="4754880" cy="868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40880" y="3831336"/>
            <a:ext cx="475488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39410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Q13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390448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80 %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39959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Implementarían gamificación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4855464"/>
            <a:ext cx="4754880" cy="868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40880" y="4855464"/>
            <a:ext cx="4754880" cy="3657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965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CC15"/>
                </a:solidFill>
              </a:rPr>
              <a:t>Q17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92861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61/100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50200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 intención definitiva de pago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Análisis de Precio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B4FE"/>
                </a:solidFill>
              </a:rPr>
              <a:t>Q17 — Disposición de pago  ·  61 respondentes con intención definitiva de pago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352044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352044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081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S/. 20 – 40 / 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92224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S/.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33472"/>
            <a:ext cx="29718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333EA"/>
                </a:solidFill>
              </a:rPr>
              <a:t>S/. 360 / año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35 docentes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298448"/>
            <a:ext cx="352044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298448"/>
            <a:ext cx="35204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4081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S/. 41 – 70 / 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792224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S/. 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79" y="2633472"/>
            <a:ext cx="29718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72491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5F7"/>
                </a:solidFill>
              </a:rPr>
              <a:t>S/. 660 / 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461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18 docentes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298448"/>
            <a:ext cx="352044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1298448"/>
            <a:ext cx="352044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4081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S/. 71 – 100 / 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792224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S/. 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633472"/>
            <a:ext cx="29718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724912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84FC"/>
                </a:solidFill>
              </a:rPr>
              <a:t>S/. 1,020 / año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461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8 docentes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63440"/>
            <a:ext cx="11183112" cy="13258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663440"/>
            <a:ext cx="11183112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54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CC15"/>
                </a:solidFill>
              </a:rPr>
              <a:t>Precio Ponderado 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3892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S/. 535.08 / docente / año   ≈   S/. 44.59 / 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790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</a:rPr>
              <a:t>Cálculo:  ( 35 × S/.360  +  18 × S/.660  +  8 × S/.1,020 )  ÷  61  =  S/.32,640 ÷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Análisis de la Demanda — Escenarios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B4FE"/>
                </a:solidFill>
              </a:rPr>
              <a:t>Año 2027  ·  Mercado Objetivo: 82,406 docentes  ·  Precio: S/. 535.08 / año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3566160" cy="4846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356616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Optimista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80 %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penetración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10128"/>
            <a:ext cx="3017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198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Suscripciones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49039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65,925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389120"/>
            <a:ext cx="3017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98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Ingresos anuales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ADE80"/>
                </a:solidFill>
              </a:rPr>
              <a:t>S/. 35,274,015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298448"/>
            <a:ext cx="3566160" cy="4846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298448"/>
            <a:ext cx="3566160" cy="3657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ACC15"/>
                </a:solidFill>
              </a:rPr>
              <a:t>Moderado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87451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50 %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penetración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310128"/>
            <a:ext cx="3017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4198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Suscripciones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49039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41,203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389120"/>
            <a:ext cx="3017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498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Ingresos anuales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846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CC15"/>
                </a:solidFill>
              </a:rPr>
              <a:t>S/. 22,046,259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1298448"/>
            <a:ext cx="3566160" cy="4846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1298448"/>
            <a:ext cx="356616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Pesimista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187451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30 %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penetración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3310128"/>
            <a:ext cx="3017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4198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Suscripciones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749039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24,722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389120"/>
            <a:ext cx="3017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4498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Ingresos anuales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84632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7171"/>
                </a:solidFill>
              </a:rPr>
              <a:t>S/. 13,227,786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09360"/>
            <a:ext cx="11183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Demanda = Mercado Objetivo × % Penetración   ·   Ingreso = Demanda × S/. 535.08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Proyección 2027–2031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B4FE"/>
                </a:solidFill>
              </a:rPr>
              <a:t>Escenario Moderado  ·  Crecimiento anual: +15 %  ·  HolonIQ EdTech LATAM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3520440" cy="1143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3520440" cy="36576"/>
          </a:xfrm>
          <a:prstGeom prst="rect">
            <a:avLst/>
          </a:prstGeom>
          <a:solidFill>
            <a:srgbClr val="D8B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08176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8B4FE"/>
                </a:solidFill>
              </a:rPr>
              <a:t>41,203 → 72,063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Suscripciones  2027 → 2031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98448"/>
            <a:ext cx="3520440" cy="1143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298448"/>
            <a:ext cx="3520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08176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DE80"/>
                </a:solidFill>
              </a:rPr>
              <a:t>+75 %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Crecimiento acumulado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298448"/>
            <a:ext cx="3520440" cy="1143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298448"/>
            <a:ext cx="3520440" cy="3657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408176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ACC15"/>
                </a:solidFill>
              </a:rPr>
              <a:t>S/. 148.7M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9202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Ingresos acumulados 2027–31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35040"/>
            <a:ext cx="109728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05200"/>
            <a:ext cx="1600200" cy="1829839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37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333EA"/>
                </a:solidFill>
              </a:rPr>
              <a:t>S/.22.0M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89903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190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41,203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930725"/>
            <a:ext cx="1600200" cy="210431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519245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55F7"/>
                </a:solidFill>
              </a:rPr>
              <a:t>S/.25.4M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089903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4190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47,383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615077"/>
            <a:ext cx="1600200" cy="241996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203597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84FC"/>
                </a:solidFill>
              </a:rPr>
              <a:t>S/.29.2M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089903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64190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54,490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3252083"/>
            <a:ext cx="1600200" cy="2782956"/>
          </a:xfrm>
          <a:prstGeom prst="rect">
            <a:avLst/>
          </a:prstGeom>
          <a:solidFill>
            <a:srgbClr val="D8B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840603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8B4FE"/>
                </a:solidFill>
              </a:rPr>
              <a:t>S/.33.5M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6089903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64190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62,664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2834639"/>
            <a:ext cx="1600200" cy="32004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423159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ACC15"/>
                </a:solidFill>
              </a:rPr>
              <a:t>S/.38.6M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6089903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64190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72,063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92240"/>
            <a:ext cx="11183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Fuente de tasa de crecimiento: HolonIQ EdTech LATAM Report 2024  ·  CAGR 15 % para SaaS educativo en Perú/LATAM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B4FE"/>
                </a:solidFill>
              </a:rPr>
              <a:t>Síntesis del análisis de demanda — LegendaryClass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118311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11183112" cy="8412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73152" cy="841248"/>
          </a:xfrm>
          <a:prstGeom prst="rect">
            <a:avLst/>
          </a:prstGeom>
          <a:solidFill>
            <a:srgbClr val="D8B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8B4FE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6303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8B4FE"/>
                </a:solidFill>
              </a:rPr>
              <a:t>82,406 docentes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9961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conforman el mercado objetivo en Lima Metropolitana.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11183112" cy="8412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258568"/>
            <a:ext cx="73152" cy="84124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4144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ACC15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423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ACC15"/>
                </a:solidFill>
              </a:rPr>
              <a:t>S/. 535 / 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45973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precio ponderado validado por disposición de pago real (Q17).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18688"/>
            <a:ext cx="11183112" cy="8412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18688"/>
            <a:ext cx="73152" cy="84124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0156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3832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</a:rPr>
              <a:t>S/. 22M en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41985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ingresos proyectados en escenario moderado (50 % penetración).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78808"/>
            <a:ext cx="11183112" cy="8412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78808"/>
            <a:ext cx="73152" cy="84124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36168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84FC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3434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84FC"/>
                </a:solidFill>
              </a:rPr>
              <a:t>S/. 38.5M en 2031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37997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con crecimiento anual del 15 % (CAGR EdTech LATAM).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38928"/>
            <a:ext cx="11183112" cy="8412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138928"/>
            <a:ext cx="73152" cy="841248"/>
          </a:xfrm>
          <a:prstGeom prst="rect">
            <a:avLst/>
          </a:prstGeom>
          <a:solidFill>
            <a:srgbClr val="D8B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2180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8B4FE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3035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8B4FE"/>
                </a:solidFill>
              </a:rPr>
              <a:t>58 % de docentes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34009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reportan baja motivación frecuente — necesidad validada por encuesta.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-1371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3657600"/>
            <a:ext cx="4572000" cy="4572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1828800"/>
            <a:ext cx="6336792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828800"/>
            <a:ext cx="6336792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⚔️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51760"/>
            <a:ext cx="5971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LegendaryClass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456432"/>
            <a:ext cx="5971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8B4FE"/>
                </a:solidFill>
              </a:rPr>
              <a:t>Sistema SaaS de Gamificación Educativa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950208"/>
            <a:ext cx="48737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069080"/>
            <a:ext cx="59710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ACC15"/>
                </a:solidFill>
              </a:rPr>
              <a:t>¡Gracias!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828032"/>
            <a:ext cx="5971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Aguirre, Juan  ·  Diseño de Proyectos de Innovación  ·  2026 - 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9984"/>
            <a:ext cx="12188952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76656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LegendaryClass  ·  Diseño de Proyectos de Innovación  ·  TECSUP  ·  2026 -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