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LEGENDARYCLASS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487168"/>
            <a:ext cx="67025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0" y="2606040"/>
            <a:ext cx="6702552" cy="342900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2743200"/>
            <a:ext cx="6336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</a:rPr>
              <a:t>Diseño de Proyectos de Innovación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182112"/>
            <a:ext cx="6336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</a:rPr>
              <a:t>Determinación de la Demanda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675887"/>
            <a:ext cx="57881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3767328"/>
            <a:ext cx="6336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</a:rPr>
              <a:t>Docente:   Turkowsky Vizcarra, Luisa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114800"/>
            <a:ext cx="633679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1400"/>
              <a:t>Integrantes: </a:t>
            </a:r>
          </a:p>
          <a:p>
            <a:pPr algn="ctr"/>
            <a:r>
              <a:rPr lang="es-PE" sz="1400"/>
              <a:t>Aguirre Saavedra, Juan Alexis</a:t>
            </a:r>
          </a:p>
          <a:p>
            <a:pPr algn="ctr"/>
            <a:r>
              <a:rPr lang="es-PE" sz="1400"/>
              <a:t>Alfonso Solorzano, Samir Haziel</a:t>
            </a:r>
          </a:p>
          <a:p>
            <a:pPr algn="ctr"/>
            <a:r>
              <a:rPr lang="es-PE" sz="1400"/>
              <a:t>Galvan Morales, Luis Enrique</a:t>
            </a:r>
          </a:p>
          <a:p>
            <a:pPr algn="ctr"/>
            <a:r>
              <a:rPr lang="es-PE" sz="1400"/>
              <a:t>Galvan Guerrero, Matias</a:t>
            </a:r>
          </a:p>
          <a:p>
            <a:pPr algn="ctr"/>
            <a:endParaRPr sz="1100" b="0" i="0">
              <a:solidFill>
                <a:srgbClr val="4B556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86684" y="5636936"/>
            <a:ext cx="57881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5731890"/>
            <a:ext cx="63367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TECSUP  ·  ·  V Ciclo  ·  2026 - 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DESCRIPCIÓN DEL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LegendaryClass — plataforma SaaS de gamificación educativa para docentes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11365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B5563"/>
                </a:solidFill>
              </a:rPr>
              <a:t>Transforma el aula en un RPG educativo. Los estudiantes eligen clase de personaje, acumulan XP, suben de nivel y canjean recompensas. El docente gestiona comportamientos, misiones y reportes de progreso.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2788920" cy="26974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057400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⚔️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5 Clases RPG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</a:rPr>
              <a:t>Mago · Guerrero · Ninja
Arquero · Lanzador
+20 % XP por acción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2" y="2057400"/>
            <a:ext cx="2788920" cy="26974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64992" y="2057400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2152" y="2148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697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Motor de XP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127248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</a:rPr>
              <a:t>Niveles, racha diaria
y logros automáticos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2057400"/>
            <a:ext cx="2788920" cy="26974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18504" y="2057400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2148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👩‍🏫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697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Panel Docente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127248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</a:rPr>
              <a:t>Comportamientos, recompensas
y reportes por aula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5" y="2057400"/>
            <a:ext cx="2788920" cy="26974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72015" y="2057400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9176" y="2148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</a:rPr>
              <a:t>🏛️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697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Panel Director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3127248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</a:rPr>
              <a:t>Estadísticas globales
de la institución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19472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50109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</a:rPr>
              <a:t>Stack:   Angular 18  ·  NestJS  ·  PostgreSQL  ·  Prisma  ·  TailwindCSS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376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Precio:  S/. 30 – 85 / mes por docente   ·   Sin costo para estudiantes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Encuesta a 100 docentes de Lima Metropolitana  ·  feb–mar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5212080" cy="1536192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5212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Encuesta de campo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10512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</a:rPr>
              <a:t>·  100 docentes · Lima Metropolitana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</a:rPr>
              <a:t>·  Google Forms · 20 preguntas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6888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B5563"/>
                </a:solidFill>
              </a:rPr>
              <a:t>·  Periodo: febrero – marzo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298448"/>
            <a:ext cx="5879592" cy="1536192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1298448"/>
            <a:ext cx="58795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38988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</a:rPr>
              <a:t>Preguntas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81051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Q4  — Situación laboral  →  Disponible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3969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Q6  — Baja motivación  →  Efectivo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688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Q13 — Disposición gamificación  →  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79806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Q17 — Disposición de pago  →  Precio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99923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Segmentación en Cascada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93008"/>
            <a:ext cx="2788920" cy="2148840"/>
          </a:xfrm>
          <a:prstGeom prst="rect">
            <a:avLst/>
          </a:prstGeom>
          <a:solidFill>
            <a:srgbClr val="E5E7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493008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584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POTENCIAL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185,000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97706"/>
                </a:solidFill>
              </a:rPr>
              <a:t>MINEDU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160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64992" y="3493008"/>
            <a:ext cx="2788920" cy="2148840"/>
          </a:xfrm>
          <a:prstGeom prst="rect">
            <a:avLst/>
          </a:prstGeom>
          <a:solidFill>
            <a:srgbClr val="FFFD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64992" y="3493008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02152" y="3584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DISPONIBLE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177,600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2152" y="4572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97706"/>
                </a:solidFill>
              </a:rPr>
              <a:t>× 96 %  (Q4)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4160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8504" y="3493008"/>
            <a:ext cx="2788920" cy="2148840"/>
          </a:xfrm>
          <a:prstGeom prst="rect">
            <a:avLst/>
          </a:prstGeom>
          <a:solidFill>
            <a:srgbClr val="FFFD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18504" y="3493008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3584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</a:rPr>
              <a:t>EFECTIVO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F2937"/>
                </a:solidFill>
              </a:rPr>
              <a:t>103,008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572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97706"/>
                </a:solidFill>
              </a:rPr>
              <a:t>× 58 %  (Q6)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7424" y="4160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72015" y="3493008"/>
            <a:ext cx="2788920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272015" y="3493008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09176" y="3584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9176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82,406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9176" y="4572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× 80 %  (Q13)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RESULTADOS DE LA ENCUESTA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Preguntas clave para la segmentación  ·  n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Q6  —  Frecuencia de baja motivación estudiantil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64008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632200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901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Siempre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5120" y="1901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22 %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0920" y="1920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</a:rPr>
              <a:t>← filtro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41448"/>
            <a:ext cx="64008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441448"/>
            <a:ext cx="594360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Frecuentemente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36 %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</a:rPr>
              <a:t>← filtro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099815"/>
            <a:ext cx="64008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1480" y="3099815"/>
            <a:ext cx="49530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32186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A veces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5920" y="321868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30 %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758184"/>
            <a:ext cx="64008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3758184"/>
            <a:ext cx="13208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38770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Raramente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3720" y="38770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8 %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16552"/>
            <a:ext cx="64008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4416552"/>
            <a:ext cx="660400" cy="53035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4535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Nunca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3320" y="45354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4 %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138928"/>
            <a:ext cx="6400800" cy="621792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5138928"/>
            <a:ext cx="6400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24865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Siempre + Frecuentemente  =  58 %   →   Mercado Efectivo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12984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</a:rPr>
              <a:t>Resumen por pregunta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1783080"/>
            <a:ext cx="4663440" cy="8686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132320" y="1783080"/>
            <a:ext cx="46634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18928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Q4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185623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</a:rPr>
              <a:t>96 %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1947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Trabajan en institución educativa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807208"/>
            <a:ext cx="4663440" cy="8686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132320" y="2807208"/>
            <a:ext cx="46634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69480" y="29169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Q6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58 %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Baja motivación frecuente/siempre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3831336"/>
            <a:ext cx="4663440" cy="8686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32320" y="3831336"/>
            <a:ext cx="46634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69480" y="394106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Q13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3904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</a:rPr>
              <a:t>80 %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39959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Implementarían gamificación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4855464"/>
            <a:ext cx="4663440" cy="8686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132320" y="4855464"/>
            <a:ext cx="46634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69480" y="49651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Q17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49286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B5563"/>
                </a:solidFill>
              </a:rPr>
              <a:t>61/100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50200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Con intención definitiva de pago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ANÁLISIS DE PRECIO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Q17 — Disposición de pago  ·  61 respondentes con intención definitiva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3566160" cy="33832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S/. 20 – 40 / 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F2937"/>
                </a:solidFill>
              </a:rPr>
              <a:t>S/. 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33472"/>
            <a:ext cx="3017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724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S/. 360 /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35 docentes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298448"/>
            <a:ext cx="3566160" cy="33832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298448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389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S/. 41 – 70 /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783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97706"/>
                </a:solidFill>
              </a:rPr>
              <a:t>S/. 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633472"/>
            <a:ext cx="3017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400" y="2724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S/. 660 / año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46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18 docentes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298448"/>
            <a:ext cx="3566160" cy="33832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1000" y="1298448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1389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S/. 71 – 100 / 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783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92400E"/>
                </a:solidFill>
              </a:rPr>
              <a:t>S/. 85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2633472"/>
            <a:ext cx="3017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72491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7706"/>
                </a:solidFill>
              </a:rPr>
              <a:t>S/. 1,020 / año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2461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8 docentes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46320"/>
            <a:ext cx="11365992" cy="1170432"/>
          </a:xfrm>
          <a:prstGeom prst="rect">
            <a:avLst/>
          </a:prstGeom>
          <a:solidFill>
            <a:srgbClr val="FFFDEB"/>
          </a:solidFill>
          <a:ln w="18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" y="4846320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9194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97706"/>
                </a:solidFill>
              </a:rPr>
              <a:t>Precio Ponderado Anual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03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</a:rPr>
              <a:t>S/. 535.08 / docente / año   ≈   S/. 44.59 / 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3387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( 35 × S/.360  +  18 × S/.660  +  8 × S/.1,020 )  ÷  61  =  S/.32,640 ÷ 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ESCENARIOS DE DEMANDA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Año 2027  ·  Mercado Objetivo: 82,406 docentes  ·  Precio: S/. 535.08 / año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3730752" cy="4983480"/>
          </a:xfrm>
          <a:prstGeom prst="rect">
            <a:avLst/>
          </a:prstGeom>
          <a:solidFill>
            <a:srgbClr val="FFFDEB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3730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Optimista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F2937"/>
                </a:solidFill>
              </a:rPr>
              <a:t>80 %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penetración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31821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01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Suscripciones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3075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</a:rPr>
              <a:t>65,925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70832"/>
            <a:ext cx="31821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Ingresos anuales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2803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D97706"/>
                </a:solidFill>
              </a:rPr>
              <a:t>S/. 35,274,015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298448"/>
            <a:ext cx="3730752" cy="4983480"/>
          </a:xfrm>
          <a:prstGeom prst="rect">
            <a:avLst/>
          </a:prstGeom>
          <a:solidFill>
            <a:srgbClr val="E5E7EB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1298448"/>
            <a:ext cx="3730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1389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Moderado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8288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F2937"/>
                </a:solidFill>
              </a:rPr>
              <a:t>50 %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penetración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291840"/>
            <a:ext cx="31821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401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Suscripciones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73075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2937"/>
                </a:solidFill>
              </a:rPr>
              <a:t>41,203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370832"/>
            <a:ext cx="31821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Ingresos anuales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82803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D97706"/>
                </a:solidFill>
              </a:rPr>
              <a:t>S/. 22,046,259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1298448"/>
            <a:ext cx="3730752" cy="49834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19" y="1298448"/>
            <a:ext cx="3730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199" y="1389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B5563"/>
                </a:solidFill>
              </a:rPr>
              <a:t>Pesimista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9" y="18288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4B5563"/>
                </a:solidFill>
              </a:rPr>
              <a:t>30 %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199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penetración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3291840"/>
            <a:ext cx="31821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199" y="3401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Suscripciones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99" y="373075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B5563"/>
                </a:solidFill>
              </a:rPr>
              <a:t>24,722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370832"/>
            <a:ext cx="31821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199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Ingresos anuales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9" y="482803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4B5563"/>
                </a:solidFill>
              </a:rPr>
              <a:t>S/. 13,227,786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4652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CA3AF"/>
                </a:solidFill>
              </a:rPr>
              <a:t>Demanda = Mercado Objetivo × % Penetración   ·   Ingreso = Demanda × S/. 535.08 / 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PROYECCIÓN 2027–2031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Escenario Moderado  ·  Crecimiento anual: +15 %  ·  HolonIQ EdTech LATAM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3730752" cy="1097280"/>
          </a:xfrm>
          <a:prstGeom prst="rect">
            <a:avLst/>
          </a:prstGeom>
          <a:solidFill>
            <a:srgbClr val="FFFD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3730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7706"/>
                </a:solidFill>
              </a:rPr>
              <a:t>41,203 → 72,063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Suscripciones  2027 → 2031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98448"/>
            <a:ext cx="3730752" cy="1097280"/>
          </a:xfrm>
          <a:prstGeom prst="rect">
            <a:avLst/>
          </a:prstGeom>
          <a:solidFill>
            <a:srgbClr val="FFFD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98448"/>
            <a:ext cx="3730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</a:rPr>
              <a:t>+75 %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Crecimiento acumulado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298448"/>
            <a:ext cx="3730752" cy="1097280"/>
          </a:xfrm>
          <a:prstGeom prst="rect">
            <a:avLst/>
          </a:prstGeom>
          <a:solidFill>
            <a:srgbClr val="FFFD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19" y="1298448"/>
            <a:ext cx="37307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199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7706"/>
                </a:solidFill>
              </a:rPr>
              <a:t>S/. 148.7M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Ingresos acumulados 5 años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035040"/>
            <a:ext cx="110642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335903"/>
            <a:ext cx="1572768" cy="1699136"/>
          </a:xfrm>
          <a:prstGeom prst="rect">
            <a:avLst/>
          </a:prstGeom>
          <a:solidFill>
            <a:srgbClr val="E5E7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951855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S/.22.0M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99048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190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41,203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081033"/>
            <a:ext cx="1572768" cy="1954006"/>
          </a:xfrm>
          <a:prstGeom prst="rect">
            <a:avLst/>
          </a:prstGeom>
          <a:solidFill>
            <a:srgbClr val="FFFD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97480" y="3696985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S/.25.4M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6099048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4190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47,383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787932"/>
            <a:ext cx="1572768" cy="2247107"/>
          </a:xfrm>
          <a:prstGeom prst="rect">
            <a:avLst/>
          </a:prstGeom>
          <a:solidFill>
            <a:srgbClr val="F59E0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3403884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S/.29.2M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6099048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4190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54,490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3450866"/>
            <a:ext cx="1572768" cy="2584173"/>
          </a:xfrm>
          <a:prstGeom prst="rect">
            <a:avLst/>
          </a:prstGeom>
          <a:solidFill>
            <a:srgbClr val="F59E0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306681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S/.33.5M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6099048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64190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62,664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063239"/>
            <a:ext cx="1572768" cy="2971800"/>
          </a:xfrm>
          <a:prstGeom prst="rect">
            <a:avLst/>
          </a:prstGeom>
          <a:solidFill>
            <a:srgbClr val="FBBF24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32520" y="2679191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S/.38.6M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6099048"/>
            <a:ext cx="15727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</a:rPr>
              <a:t>2031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6419088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72,063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92240"/>
            <a:ext cx="11365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CA3AF"/>
                </a:solidFill>
              </a:rPr>
              <a:t>HolonIQ EdTech LATAM Report 2024  ·  CAGR 15 % para plataformas SaaS educativas en Perú y LATAM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</a:rPr>
              <a:t>Síntesis del análisis de demanda — LegendaryClass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98448"/>
            <a:ext cx="11365992" cy="82296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298448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48132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453895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82,406 docentes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81328"/>
            <a:ext cx="7269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conforman el mercado objetivo en Lima Metropolitana (MINEDU 2024).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40280"/>
            <a:ext cx="11365992" cy="82296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240280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240280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423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3957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S/. 535 / 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423160"/>
            <a:ext cx="7269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precio ponderado validado por disposición de pago real (Q17).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82112"/>
            <a:ext cx="11365992" cy="82296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182112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182112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3649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337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S/. 22M en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364992"/>
            <a:ext cx="7269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ingresos proyectados en escenario moderado (50 % penetración).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123944"/>
            <a:ext cx="11365992" cy="82296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4123944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4123944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43068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2793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</a:rPr>
              <a:t>S/. 38.5M en 2031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306824"/>
            <a:ext cx="7269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con crecimiento anual del 15 % — CAGR EdTech LATAM (HolonIQ 2024).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065776"/>
            <a:ext cx="11365992" cy="82296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" y="5065776"/>
            <a:ext cx="113659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1480" y="5065776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24865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522122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58 % de docentes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248656"/>
            <a:ext cx="7269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</a:rPr>
              <a:t>reportan baja motivación frecuente — necesidad real y cuantificada.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200" b="1">
                <a:gradFill>
                  <a:gsLst>
                    <a:gs pos="0">
                      <a:srgbClr val="FBBF24"/>
                    </a:gs>
                    <a:gs pos="25000">
                      <a:srgbClr val="F59E0B"/>
                    </a:gs>
                    <a:gs pos="50000">
                      <a:srgbClr val="D97706"/>
                    </a:gs>
                    <a:gs pos="75000">
                      <a:srgbClr val="92400E"/>
                    </a:gs>
                    <a:gs pos="100000">
                      <a:srgbClr val="FBBF24"/>
                    </a:gs>
                  </a:gsLst>
                  <a:lin ang="2700000" scaled="0"/>
                </a:gradFill>
              </a:rPr>
              <a:t>LEGENDARYCLASS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563"/>
                </a:solidFill>
              </a:rPr>
              <a:t>⚔️  Tu aventura educativa te espera  ⚔️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633472"/>
            <a:ext cx="633679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0" y="2724912"/>
            <a:ext cx="6336792" cy="2926080"/>
          </a:xfrm>
          <a:prstGeom prst="rect">
            <a:avLst/>
          </a:prstGeom>
          <a:solidFill>
            <a:srgbClr val="FFFFFF"/>
          </a:solidFill>
          <a:ln w="150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2834640"/>
            <a:ext cx="6336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97706"/>
                </a:solidFill>
              </a:rPr>
              <a:t>¡Gracias!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703320"/>
            <a:ext cx="560527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3794760"/>
            <a:ext cx="6336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</a:rPr>
              <a:t>Aguirre, Juan  ·  Diseño de Proyectos de Innovación  ·  2026 -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160520"/>
            <a:ext cx="6336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</a:rPr>
              <a:t>TECSUP  ·  Ingeniería de Software  ·  V Ciclo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88952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729984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LegendaryClass  ·  Diseño de Proyectos de Innovación  ·  TECSUP  ·  2026 -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842</Words>
  <Application>Microsoft Office PowerPoint</Application>
  <PresentationFormat>Personalizado</PresentationFormat>
  <Paragraphs>179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Aguirre</cp:lastModifiedBy>
  <cp:revision>2</cp:revision>
  <dcterms:created xsi:type="dcterms:W3CDTF">2013-01-27T09:14:16Z</dcterms:created>
  <dcterms:modified xsi:type="dcterms:W3CDTF">2026-04-16T04:57:33Z</dcterms:modified>
  <cp:category/>
</cp:coreProperties>
</file>