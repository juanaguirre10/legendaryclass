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731520"/>
            <a:ext cx="7772400" cy="5394960"/>
          </a:xfrm>
          <a:prstGeom prst="rect">
            <a:avLst/>
          </a:prstGeom>
          <a:solidFill>
            <a:srgbClr val="141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731520"/>
            <a:ext cx="109728" cy="53949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03920" y="914400"/>
            <a:ext cx="3383280" cy="3200400"/>
          </a:xfrm>
          <a:prstGeom prst="rect">
            <a:avLst/>
          </a:prstGeom>
          <a:solidFill>
            <a:srgbClr val="1E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03920" y="4389120"/>
            <a:ext cx="3383280" cy="1691640"/>
          </a:xfrm>
          <a:prstGeom prst="rect">
            <a:avLst/>
          </a:prstGeom>
          <a:solidFill>
            <a:srgbClr val="1E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03920" y="914400"/>
            <a:ext cx="3383280" cy="9144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4389120"/>
            <a:ext cx="3383280" cy="54864"/>
          </a:xfrm>
          <a:prstGeom prst="rect">
            <a:avLst/>
          </a:prstGeom>
          <a:solidFill>
            <a:srgbClr val="008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1051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350C8"/>
                </a:solidFill>
              </a:rPr>
              <a:t>TECSUP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4AFD2"/>
                </a:solidFill>
              </a:rPr>
              <a:t>Ingeniería de 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920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4AFD2"/>
                </a:solidFill>
              </a:rPr>
              <a:t>V Ciclo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2377440"/>
            <a:ext cx="2834640" cy="36576"/>
          </a:xfrm>
          <a:prstGeom prst="rect">
            <a:avLst/>
          </a:prstGeom>
          <a:solidFill>
            <a:srgbClr val="935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24871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4AFD2"/>
                </a:solidFill>
              </a:rPr>
              <a:t>Docente: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788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Turkowsky Vizcarra, Luisa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3310128"/>
            <a:ext cx="2834640" cy="36576"/>
          </a:xfrm>
          <a:prstGeom prst="rect">
            <a:avLst/>
          </a:prstGeom>
          <a:solidFill>
            <a:srgbClr val="935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3429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4AFD2"/>
                </a:solidFill>
              </a:rPr>
              <a:t>Alumno: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74903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Aguirre, Juan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4526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107"/>
                </a:solidFill>
              </a:rPr>
              <a:t>2026 - 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983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4AFD2"/>
                </a:solidFill>
              </a:rPr>
              <a:t>Laboratorio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537667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350C8"/>
                </a:solidFill>
              </a:rPr>
              <a:t>Parte Práctica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9601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350C8"/>
                </a:solidFill>
              </a:rPr>
              <a:t>LABORATORIO 03  ·  2026 - 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1417320"/>
            <a:ext cx="6858000" cy="4572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1554480"/>
            <a:ext cx="7315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</a:rPr>
              <a:t>LegendaryClass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2743200"/>
            <a:ext cx="6858000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2880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4AFD2"/>
                </a:solidFill>
              </a:rPr>
              <a:t>Sistema SaaS de Gamificación Educativa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520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</a:rPr>
              <a:t>Determinar la Demanda de un Proyecto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160520"/>
            <a:ext cx="2011680" cy="64008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206240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CASO 3 — PARTE PRÁCTICA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983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4AFD2"/>
                </a:solidFill>
              </a:rPr>
              <a:t>Determinar la demanda  ·  Encuesta n=100  ·  Lima Metropolitana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41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1143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88952" cy="6400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Descripción del Producto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0408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AFD2"/>
                </a:solidFill>
              </a:rPr>
              <a:t>LegendaryClass — Sistema SaaS de Gamificación Educativa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711696"/>
            <a:ext cx="10972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B9EB"/>
                </a:solidFill>
              </a:rPr>
              <a:t>LegendaryClass  ·  Diseño de Proyectos de Innovación  ·  TECSUP  ·  2026 - 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80160"/>
            <a:ext cx="7315200" cy="1097280"/>
          </a:xfrm>
          <a:prstGeom prst="rect">
            <a:avLst/>
          </a:prstGeom>
          <a:solidFill>
            <a:srgbClr val="1E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280160"/>
            <a:ext cx="82296" cy="109728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325880"/>
            <a:ext cx="7040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Plataforma web que transforma el aula en un RPG educativo. Los estudiantes eligen clase de personaje, acumulan XP, suben de nivel y canjean recompensas. El docente gestiona comportamientos, misiones y reportes.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560320"/>
            <a:ext cx="2743200" cy="2011680"/>
          </a:xfrm>
          <a:prstGeom prst="rect">
            <a:avLst/>
          </a:prstGeom>
          <a:solidFill>
            <a:srgbClr val="141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560320"/>
            <a:ext cx="2743200" cy="7315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263347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⚔️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09067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030A0"/>
                </a:solidFill>
              </a:rPr>
              <a:t>5 Clases RPG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35204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AFD2"/>
                </a:solidFill>
              </a:rPr>
              <a:t>Mago · Guerrero · Ninja
Arquero · Lanzador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27832" y="2560320"/>
            <a:ext cx="2743200" cy="2011680"/>
          </a:xfrm>
          <a:prstGeom prst="rect">
            <a:avLst/>
          </a:prstGeom>
          <a:solidFill>
            <a:srgbClr val="141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27832" y="2560320"/>
            <a:ext cx="2743200" cy="73152"/>
          </a:xfrm>
          <a:prstGeom prst="rect">
            <a:avLst/>
          </a:prstGeom>
          <a:solidFill>
            <a:srgbClr val="008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9272" y="263347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309067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CE6"/>
                </a:solidFill>
              </a:rPr>
              <a:t>Motor XP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9272" y="35204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AFD2"/>
                </a:solidFill>
              </a:rPr>
              <a:t>Niveles, racha diaria
logros automáticos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35624" y="2560320"/>
            <a:ext cx="2743200" cy="2011680"/>
          </a:xfrm>
          <a:prstGeom prst="rect">
            <a:avLst/>
          </a:prstGeom>
          <a:solidFill>
            <a:srgbClr val="141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35624" y="2560320"/>
            <a:ext cx="2743200" cy="73152"/>
          </a:xfrm>
          <a:prstGeom prst="rect">
            <a:avLst/>
          </a:prstGeom>
          <a:solidFill>
            <a:srgbClr val="00B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27064" y="263347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👩‍🏫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27064" y="309067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CB4"/>
                </a:solidFill>
              </a:rPr>
              <a:t>Panel Docente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7064" y="35204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AFD2"/>
                </a:solidFill>
              </a:rPr>
              <a:t>Comportamientos,
recompensas, reportes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43416" y="2560320"/>
            <a:ext cx="2743200" cy="2011680"/>
          </a:xfrm>
          <a:prstGeom prst="rect">
            <a:avLst/>
          </a:prstGeom>
          <a:solidFill>
            <a:srgbClr val="141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3416" y="2560320"/>
            <a:ext cx="2743200" cy="73152"/>
          </a:xfrm>
          <a:prstGeom prst="rect">
            <a:avLst/>
          </a:prstGeom>
          <a:solidFill>
            <a:srgbClr val="935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34856" y="263347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🏛️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34856" y="309067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350C8"/>
                </a:solidFill>
              </a:rPr>
              <a:t>Panel Director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4856" y="35204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AFD2"/>
                </a:solidFill>
              </a:rPr>
              <a:t>Estadísticas globales
de la institución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754880"/>
            <a:ext cx="11521440" cy="685800"/>
          </a:xfrm>
          <a:prstGeom prst="rect">
            <a:avLst/>
          </a:prstGeom>
          <a:solidFill>
            <a:srgbClr val="1E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809744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CB4"/>
                </a:solidFill>
              </a:rPr>
              <a:t>Stack:  Angular 18  ·  NestJS  ·  PostgreSQL  ·  Prisma  ·  TailwindCSS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1206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AFD2"/>
                </a:solidFill>
              </a:rPr>
              <a:t>Precio:  S/. 30 – S/. 85 / mes por docente   |   Sin costo para estudiantes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41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1143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88952" cy="6400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Metodología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0408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AFD2"/>
                </a:solidFill>
              </a:rPr>
              <a:t>Instrumento de investigación y modelo de segmentación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711696"/>
            <a:ext cx="10972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B9EB"/>
                </a:solidFill>
              </a:rPr>
              <a:t>LegendaryClass  ·  Diseño de Proyectos de Innovación  ·  TECSUP  ·  2026 - 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61872"/>
            <a:ext cx="5120640" cy="1828800"/>
          </a:xfrm>
          <a:prstGeom prst="rect">
            <a:avLst/>
          </a:prstGeom>
          <a:solidFill>
            <a:srgbClr val="1E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261872"/>
            <a:ext cx="82296" cy="1828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316736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</a:rPr>
              <a:t>Encuesta de campo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19072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100 docentes de Lima Metropolitana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57400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Google Forms — 20 preguntas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395728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Periodo: febrero – marzo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734056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Instituciones EBR y Superior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0" y="1261872"/>
            <a:ext cx="6217920" cy="1828800"/>
          </a:xfrm>
          <a:prstGeom prst="rect">
            <a:avLst/>
          </a:prstGeom>
          <a:solidFill>
            <a:srgbClr val="1E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0" y="1261872"/>
            <a:ext cx="82296" cy="1828800"/>
          </a:xfrm>
          <a:prstGeom prst="rect">
            <a:avLst/>
          </a:prstGeom>
          <a:solidFill>
            <a:srgbClr val="008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1316736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CE6"/>
                </a:solidFill>
              </a:rPr>
              <a:t>Preguntas clave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1719072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Q4  —  Situación laboral  (→ Disponible)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2057400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Q6  —  Frecuencia baja motivación  (→ Efectivo)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2395728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Q13 —  Disposición gamificación  (→ Objetivo)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2734056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Q17 —  Disposición de pago  (→ Precio)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2461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350C8"/>
                </a:solidFill>
              </a:rPr>
              <a:t>Modelo de Segmentación en Cascada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749039"/>
            <a:ext cx="2743200" cy="1737360"/>
          </a:xfrm>
          <a:prstGeom prst="rect">
            <a:avLst/>
          </a:prstGeom>
          <a:solidFill>
            <a:srgbClr val="141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749039"/>
            <a:ext cx="2743200" cy="6400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5422392"/>
            <a:ext cx="2743200" cy="6400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79" y="38404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030A0"/>
                </a:solidFill>
              </a:rPr>
              <a:t>POTENCIAL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42062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185,000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47914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4AFD2"/>
                </a:solidFill>
              </a:rPr>
              <a:t>docentes Lima Met.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79" y="5120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7030A0"/>
                </a:solidFill>
              </a:rPr>
              <a:t>MINEDU 2024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4389120"/>
            <a:ext cx="21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350C8"/>
                </a:solidFill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73552" y="3749039"/>
            <a:ext cx="2743200" cy="1737360"/>
          </a:xfrm>
          <a:prstGeom prst="rect">
            <a:avLst/>
          </a:prstGeom>
          <a:solidFill>
            <a:srgbClr val="141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73552" y="3749039"/>
            <a:ext cx="2743200" cy="64008"/>
          </a:xfrm>
          <a:prstGeom prst="rect">
            <a:avLst/>
          </a:prstGeom>
          <a:solidFill>
            <a:srgbClr val="008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73552" y="5422392"/>
            <a:ext cx="2743200" cy="64008"/>
          </a:xfrm>
          <a:prstGeom prst="rect">
            <a:avLst/>
          </a:prstGeom>
          <a:solidFill>
            <a:srgbClr val="008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64992" y="38404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CE6"/>
                </a:solidFill>
              </a:rPr>
              <a:t>DISPONIBLE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64992" y="42062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177,600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64992" y="47914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4AFD2"/>
                </a:solidFill>
              </a:rPr>
              <a:t>× 96 % (Q4)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64992" y="5120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08CE6"/>
                </a:solidFill>
              </a:rPr>
              <a:t>−3,400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16752" y="4389120"/>
            <a:ext cx="21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350C8"/>
                </a:solidFill>
              </a:rPr>
              <a:t>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27064" y="3749039"/>
            <a:ext cx="2743200" cy="1737360"/>
          </a:xfrm>
          <a:prstGeom prst="rect">
            <a:avLst/>
          </a:prstGeom>
          <a:solidFill>
            <a:srgbClr val="141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27064" y="3749039"/>
            <a:ext cx="2743200" cy="64008"/>
          </a:xfrm>
          <a:prstGeom prst="rect">
            <a:avLst/>
          </a:prstGeom>
          <a:solidFill>
            <a:srgbClr val="00B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27064" y="5422392"/>
            <a:ext cx="2743200" cy="64008"/>
          </a:xfrm>
          <a:prstGeom prst="rect">
            <a:avLst/>
          </a:prstGeom>
          <a:solidFill>
            <a:srgbClr val="00B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18503" y="38404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CB4"/>
                </a:solidFill>
              </a:rPr>
              <a:t>EFECTIVO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18503" y="42062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103,008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18503" y="47914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4AFD2"/>
                </a:solidFill>
              </a:rPr>
              <a:t>× 58 % (Q6)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18503" y="5120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0BCB4"/>
                </a:solidFill>
              </a:rPr>
              <a:t>−74,592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70263" y="4389120"/>
            <a:ext cx="21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350C8"/>
                </a:solidFill>
              </a:rPr>
              <a:t>▶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80576" y="3749039"/>
            <a:ext cx="2743200" cy="1737360"/>
          </a:xfrm>
          <a:prstGeom prst="rect">
            <a:avLst/>
          </a:prstGeom>
          <a:solidFill>
            <a:srgbClr val="141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80576" y="3749039"/>
            <a:ext cx="2743200" cy="6400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80576" y="5422392"/>
            <a:ext cx="2743200" cy="6400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72015" y="38404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CAF50"/>
                </a:solidFill>
              </a:rPr>
              <a:t>OBJETIVO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72015" y="42062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82,406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72015" y="47914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4AFD2"/>
                </a:solidFill>
              </a:rPr>
              <a:t>× 80 % (Q13)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72015" y="5120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CAF50"/>
                </a:solidFill>
              </a:rPr>
              <a:t>−20,602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41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1143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88952" cy="6400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Resultados de la Encuesta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0408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AFD2"/>
                </a:solidFill>
              </a:rPr>
              <a:t>Preguntas clave para la segmentación de mercado (n=100)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711696"/>
            <a:ext cx="10972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B9EB"/>
                </a:solidFill>
              </a:rPr>
              <a:t>LegendaryClass  ·  Diseño de Proyectos de Innovación  ·  TECSUP  ·  2026 - 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26187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</a:rPr>
              <a:t>Q6 — Frecuencia de baja motivación estudiantil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783080"/>
            <a:ext cx="5029200" cy="566928"/>
          </a:xfrm>
          <a:prstGeom prst="rect">
            <a:avLst/>
          </a:prstGeom>
          <a:solidFill>
            <a:srgbClr val="141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783080"/>
            <a:ext cx="2682240" cy="566928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911095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Siempre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8000" y="1911095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4336"/>
                </a:solidFill>
              </a:rPr>
              <a:t>22 %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02280" y="1783080"/>
            <a:ext cx="2346960" cy="566928"/>
          </a:xfrm>
          <a:prstGeom prst="rect">
            <a:avLst/>
          </a:prstGeom>
          <a:solidFill>
            <a:srgbClr val="1E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93720" y="1911095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44336"/>
                </a:solidFill>
              </a:rPr>
              <a:t>✓ Filtro Mercado Efectivo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478024"/>
            <a:ext cx="5029200" cy="566928"/>
          </a:xfrm>
          <a:prstGeom prst="rect">
            <a:avLst/>
          </a:prstGeom>
          <a:solidFill>
            <a:srgbClr val="141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478024"/>
            <a:ext cx="4389120" cy="56692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606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Frecuentemente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26060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030A0"/>
                </a:solidFill>
              </a:rPr>
              <a:t>36 %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59" y="2478024"/>
            <a:ext cx="640080" cy="566928"/>
          </a:xfrm>
          <a:prstGeom prst="rect">
            <a:avLst/>
          </a:prstGeom>
          <a:solidFill>
            <a:srgbClr val="1E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599" y="2606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030A0"/>
                </a:solidFill>
              </a:rPr>
              <a:t>✓ Filtro Mercado Efectivo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172968"/>
            <a:ext cx="5029200" cy="566928"/>
          </a:xfrm>
          <a:prstGeom prst="rect">
            <a:avLst/>
          </a:prstGeom>
          <a:solidFill>
            <a:srgbClr val="141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172968"/>
            <a:ext cx="3657600" cy="566928"/>
          </a:xfrm>
          <a:prstGeom prst="rect">
            <a:avLst/>
          </a:prstGeom>
          <a:solidFill>
            <a:srgbClr val="008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3009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 veces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59" y="330098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CE6"/>
                </a:solidFill>
              </a:rPr>
              <a:t>30 %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867912"/>
            <a:ext cx="5029200" cy="566928"/>
          </a:xfrm>
          <a:prstGeom prst="rect">
            <a:avLst/>
          </a:prstGeom>
          <a:solidFill>
            <a:srgbClr val="141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3867912"/>
            <a:ext cx="975360" cy="566928"/>
          </a:xfrm>
          <a:prstGeom prst="rect">
            <a:avLst/>
          </a:prstGeom>
          <a:solidFill>
            <a:srgbClr val="00B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9959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Raramente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1120" y="39959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CB4"/>
                </a:solidFill>
              </a:rPr>
              <a:t>8 %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562856"/>
            <a:ext cx="5029200" cy="566928"/>
          </a:xfrm>
          <a:prstGeom prst="rect">
            <a:avLst/>
          </a:prstGeom>
          <a:solidFill>
            <a:srgbClr val="141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562856"/>
            <a:ext cx="487680" cy="56692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46908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Nunca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440" y="46908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50"/>
                </a:solidFill>
              </a:rPr>
              <a:t>4 %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77840" y="1261872"/>
            <a:ext cx="6309360" cy="2148840"/>
          </a:xfrm>
          <a:prstGeom prst="rect">
            <a:avLst/>
          </a:prstGeom>
          <a:solidFill>
            <a:srgbClr val="1E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77840" y="1261872"/>
            <a:ext cx="82296" cy="214884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0" y="1316736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350C8"/>
                </a:solidFill>
              </a:rPr>
              <a:t>Hallazgos clave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1755648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→ 96 % trabaja en institución educativa (Q4)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2157984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→ 58 % baja motivación frecuente/siempre (Q6)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0" y="256032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→ 80 % implementaría gamificación (Q13)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0" y="2962656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→ 61 de 100 tienen intención de pago (Q17)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7840" y="3611880"/>
            <a:ext cx="6309360" cy="1280160"/>
          </a:xfrm>
          <a:prstGeom prst="rect">
            <a:avLst/>
          </a:prstGeom>
          <a:solidFill>
            <a:srgbClr val="141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577840" y="3611880"/>
            <a:ext cx="6309360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0" y="370332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50"/>
                </a:solidFill>
              </a:rPr>
              <a:t>Q13 — Disposición de implementar gamificación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40690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4CAF50"/>
                </a:solidFill>
              </a:rPr>
              <a:t>80 %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4133087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AFD2"/>
                </a:solidFill>
              </a:rPr>
              <a:t>Sí implementaría
una solución en su aula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0" y="4800600"/>
            <a:ext cx="5943600" cy="320040"/>
          </a:xfrm>
          <a:prstGeom prst="rect">
            <a:avLst/>
          </a:prstGeom>
          <a:solidFill>
            <a:srgbClr val="1E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669280" y="4800600"/>
            <a:ext cx="4754880" cy="3200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0" y="51663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AFD2"/>
                </a:solidFill>
              </a:rPr>
              <a:t>80 %  de 100 encuestados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41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1143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88952" cy="6400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Análisis de Precio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0408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AFD2"/>
                </a:solidFill>
              </a:rPr>
              <a:t>Q17 — Disposición de pago mensual  ·  61 respondentes con intención definitiva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711696"/>
            <a:ext cx="10972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B9EB"/>
                </a:solidFill>
              </a:rPr>
              <a:t>LegendaryClass  ·  Diseño de Proyectos de Innovación  ·  TECSUP  ·  2026 - 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80160"/>
            <a:ext cx="3520440" cy="2926080"/>
          </a:xfrm>
          <a:prstGeom prst="rect">
            <a:avLst/>
          </a:prstGeom>
          <a:solidFill>
            <a:srgbClr val="141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280160"/>
            <a:ext cx="3520440" cy="73152"/>
          </a:xfrm>
          <a:prstGeom prst="rect">
            <a:avLst/>
          </a:prstGeom>
          <a:solidFill>
            <a:srgbClr val="008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4133087"/>
            <a:ext cx="3520440" cy="73152"/>
          </a:xfrm>
          <a:prstGeom prst="rect">
            <a:avLst/>
          </a:prstGeom>
          <a:solidFill>
            <a:srgbClr val="008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4AFD2"/>
                </a:solidFill>
              </a:rPr>
              <a:t>S/. 20 – 40/mes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17373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8CE6"/>
                </a:solidFill>
              </a:rPr>
              <a:t>S/. 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487168"/>
            <a:ext cx="2606040" cy="36576"/>
          </a:xfrm>
          <a:prstGeom prst="rect">
            <a:avLst/>
          </a:prstGeom>
          <a:solidFill>
            <a:srgbClr val="008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256032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S/. 360/año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30632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4AFD2"/>
                </a:solidFill>
              </a:rPr>
              <a:t>35 docentes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657600"/>
            <a:ext cx="3154680" cy="320040"/>
          </a:xfrm>
          <a:prstGeom prst="rect">
            <a:avLst/>
          </a:prstGeom>
          <a:solidFill>
            <a:srgbClr val="1E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657600"/>
            <a:ext cx="3154680" cy="320040"/>
          </a:xfrm>
          <a:prstGeom prst="rect">
            <a:avLst/>
          </a:prstGeom>
          <a:solidFill>
            <a:srgbClr val="008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00507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8CE6"/>
                </a:solidFill>
              </a:rPr>
              <a:t>57.4 % del total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1280160"/>
            <a:ext cx="3520440" cy="2926080"/>
          </a:xfrm>
          <a:prstGeom prst="rect">
            <a:avLst/>
          </a:prstGeom>
          <a:solidFill>
            <a:srgbClr val="141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0" y="1280160"/>
            <a:ext cx="3520440" cy="7315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133087"/>
            <a:ext cx="3520440" cy="7315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24528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4AFD2"/>
                </a:solidFill>
              </a:rPr>
              <a:t>S/. 41 – 70/mes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4528" y="17373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7030A0"/>
                </a:solidFill>
              </a:rPr>
              <a:t>S/. 55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2487168"/>
            <a:ext cx="2606040" cy="3657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24528" y="256032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S/. 660/año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30632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4AFD2"/>
                </a:solidFill>
              </a:rPr>
              <a:t>18 docentes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3657600"/>
            <a:ext cx="3154680" cy="320040"/>
          </a:xfrm>
          <a:prstGeom prst="rect">
            <a:avLst/>
          </a:prstGeom>
          <a:solidFill>
            <a:srgbClr val="1E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80" y="3657600"/>
            <a:ext cx="1621307" cy="32004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400507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030A0"/>
                </a:solidFill>
              </a:rPr>
              <a:t>29.5 % del total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09560" y="1280160"/>
            <a:ext cx="3520440" cy="2926080"/>
          </a:xfrm>
          <a:prstGeom prst="rect">
            <a:avLst/>
          </a:prstGeom>
          <a:solidFill>
            <a:srgbClr val="141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09560" y="1280160"/>
            <a:ext cx="3520440" cy="73152"/>
          </a:xfrm>
          <a:prstGeom prst="rect">
            <a:avLst/>
          </a:prstGeom>
          <a:solidFill>
            <a:srgbClr val="00B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09560" y="4133087"/>
            <a:ext cx="3520440" cy="73152"/>
          </a:xfrm>
          <a:prstGeom prst="rect">
            <a:avLst/>
          </a:prstGeom>
          <a:solidFill>
            <a:srgbClr val="00B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19288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4AFD2"/>
                </a:solidFill>
              </a:rPr>
              <a:t>S/. 71 – 100/mes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19288" y="17373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CB4"/>
                </a:solidFill>
              </a:rPr>
              <a:t>S/. 85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66760" y="2487168"/>
            <a:ext cx="2606040" cy="36576"/>
          </a:xfrm>
          <a:prstGeom prst="rect">
            <a:avLst/>
          </a:prstGeom>
          <a:solidFill>
            <a:srgbClr val="00B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19288" y="256032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S/. 1,020/año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9288" y="30632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4AFD2"/>
                </a:solidFill>
              </a:rPr>
              <a:t>8 docentes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92440" y="3657600"/>
            <a:ext cx="3154680" cy="320040"/>
          </a:xfrm>
          <a:prstGeom prst="rect">
            <a:avLst/>
          </a:prstGeom>
          <a:solidFill>
            <a:srgbClr val="1E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92440" y="3657600"/>
            <a:ext cx="719970" cy="320040"/>
          </a:xfrm>
          <a:prstGeom prst="rect">
            <a:avLst/>
          </a:prstGeom>
          <a:solidFill>
            <a:srgbClr val="00B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92440" y="400507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BCB4"/>
                </a:solidFill>
              </a:rPr>
              <a:t>13.1 % del total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370832"/>
            <a:ext cx="11548872" cy="1325880"/>
          </a:xfrm>
          <a:prstGeom prst="rect">
            <a:avLst/>
          </a:prstGeom>
          <a:solidFill>
            <a:srgbClr val="141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0040" y="4370832"/>
            <a:ext cx="91440" cy="13258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4370832"/>
            <a:ext cx="11548872" cy="6400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</a:rPr>
              <a:t>Precio Ponderado Anual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8920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S/. 535.08 / docente / año   ≈   S/. 44.59 / mes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486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4AFD2"/>
                </a:solidFill>
              </a:rPr>
              <a:t>Cálculo: (35×360 + 18×660 + 8×1,020) ÷ 61 = 32,640 ÷ 61 = 535.08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0" y="448056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107"/>
                </a:solidFill>
              </a:rPr>
              <a:t>61 de 100
con intención
de pago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41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1143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88952" cy="6400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Análisis de la Demanda — Escenarios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0408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AFD2"/>
                </a:solidFill>
              </a:rPr>
              <a:t>Año 2027  ·  Mercado Objetivo: 82,406 docentes  ·  Precio: S/. 535.08/año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711696"/>
            <a:ext cx="10972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B9EB"/>
                </a:solidFill>
              </a:rPr>
              <a:t>LegendaryClass  ·  Diseño de Proyectos de Innovación  ·  TECSUP  ·  2026 - 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98448"/>
            <a:ext cx="3749039" cy="4983480"/>
          </a:xfrm>
          <a:prstGeom prst="rect">
            <a:avLst/>
          </a:prstGeom>
          <a:solidFill>
            <a:srgbClr val="141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298448"/>
            <a:ext cx="3749039" cy="914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6190488"/>
            <a:ext cx="3749039" cy="914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4173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CAF50"/>
                </a:solidFill>
              </a:rPr>
              <a:t>OPTIMISTA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1938528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80 %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9443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4AFD2"/>
                </a:solidFill>
              </a:rPr>
              <a:t>penetración del mercado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59" y="3337560"/>
            <a:ext cx="320040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42900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4AFD2"/>
                </a:solidFill>
              </a:rPr>
              <a:t>Suscripciones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749039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65,925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59" y="4389120"/>
            <a:ext cx="320040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44805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4AFD2"/>
                </a:solidFill>
              </a:rPr>
              <a:t>Ingresos anuales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8006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4CAF50"/>
                </a:solidFill>
              </a:rPr>
              <a:t>S/. 35,274,015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525780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4AFD2"/>
                </a:solidFill>
              </a:rPr>
              <a:t>≈ USD 9.5M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1298448"/>
            <a:ext cx="3749039" cy="4983480"/>
          </a:xfrm>
          <a:prstGeom prst="rect">
            <a:avLst/>
          </a:prstGeom>
          <a:solidFill>
            <a:srgbClr val="141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70248" y="1298448"/>
            <a:ext cx="3749039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70248" y="6190488"/>
            <a:ext cx="3749039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70248" y="14173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C107"/>
                </a:solidFill>
              </a:rPr>
              <a:t>MODERADO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0248" y="1938528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50 %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0248" y="29443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4AFD2"/>
                </a:solidFill>
              </a:rPr>
              <a:t>penetración del mercado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44568" y="3337560"/>
            <a:ext cx="3200400" cy="3657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70248" y="342900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4AFD2"/>
                </a:solidFill>
              </a:rPr>
              <a:t>Suscripciones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0248" y="3749039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41,203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44568" y="4389120"/>
            <a:ext cx="3200400" cy="3657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70248" y="44805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4AFD2"/>
                </a:solidFill>
              </a:rPr>
              <a:t>Ingresos anuales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0248" y="48006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C107"/>
                </a:solidFill>
              </a:rPr>
              <a:t>S/. 22,046,259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70248" y="525780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4AFD2"/>
                </a:solidFill>
              </a:rPr>
              <a:t>≈ USD 5.9M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0456" y="1298448"/>
            <a:ext cx="3749039" cy="4983480"/>
          </a:xfrm>
          <a:prstGeom prst="rect">
            <a:avLst/>
          </a:prstGeom>
          <a:solidFill>
            <a:srgbClr val="141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0456" y="1298448"/>
            <a:ext cx="3749039" cy="9144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0456" y="6190488"/>
            <a:ext cx="3749039" cy="9144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0456" y="14173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4336"/>
                </a:solidFill>
              </a:rPr>
              <a:t>PESIMISTA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0456" y="1938528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30 %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0456" y="29443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4AFD2"/>
                </a:solidFill>
              </a:rPr>
              <a:t>penetración del mercado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94776" y="3337560"/>
            <a:ext cx="3200400" cy="36576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0456" y="342900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4AFD2"/>
                </a:solidFill>
              </a:rPr>
              <a:t>Suscripciones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0456" y="3749039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24,722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94776" y="4389120"/>
            <a:ext cx="3200400" cy="36576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0456" y="44805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4AFD2"/>
                </a:solidFill>
              </a:rPr>
              <a:t>Ingresos anuales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0456" y="48006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44336"/>
                </a:solidFill>
              </a:rPr>
              <a:t>S/. 13,227,786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0456" y="525780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4AFD2"/>
                </a:solidFill>
              </a:rPr>
              <a:t>≈ USD 3.6M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" y="6446520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4AFD2"/>
                </a:solidFill>
              </a:rPr>
              <a:t>Demanda = Mercado Objetivo × % Penetración     |     Ingreso = Demanda × S/. 535.08 / 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41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1143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88952" cy="6400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Proyección 2027–2031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0408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AFD2"/>
                </a:solidFill>
              </a:rPr>
              <a:t>Escenario Moderado  ·  Tasa de crecimiento: 15 % anual  ·  CAGR EdTech LATAM (HolonIQ 2024)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711696"/>
            <a:ext cx="10972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B9EB"/>
                </a:solidFill>
              </a:rPr>
              <a:t>LegendaryClass  ·  Diseño de Proyectos de Innovación  ·  TECSUP  ·  2026 - 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80160"/>
            <a:ext cx="2788920" cy="1234440"/>
          </a:xfrm>
          <a:prstGeom prst="rect">
            <a:avLst/>
          </a:prstGeom>
          <a:solidFill>
            <a:srgbClr val="1E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280160"/>
            <a:ext cx="2788920" cy="64008"/>
          </a:xfrm>
          <a:prstGeom prst="rect">
            <a:avLst/>
          </a:prstGeom>
          <a:solidFill>
            <a:srgbClr val="008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371600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8CE6"/>
                </a:solidFill>
              </a:rPr>
              <a:t>41,203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92024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4AFD2"/>
                </a:solidFill>
              </a:rPr>
              <a:t>Suscripciones
2027 (base)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82696" y="1280160"/>
            <a:ext cx="2788920" cy="1234440"/>
          </a:xfrm>
          <a:prstGeom prst="rect">
            <a:avLst/>
          </a:prstGeom>
          <a:solidFill>
            <a:srgbClr val="1E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82696" y="1280160"/>
            <a:ext cx="2788920" cy="6400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82696" y="1371600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030A0"/>
                </a:solidFill>
              </a:rPr>
              <a:t>72,063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82696" y="192024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4AFD2"/>
                </a:solidFill>
              </a:rPr>
              <a:t>Suscripciones
2031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1280160"/>
            <a:ext cx="2788920" cy="1234440"/>
          </a:xfrm>
          <a:prstGeom prst="rect">
            <a:avLst/>
          </a:prstGeom>
          <a:solidFill>
            <a:srgbClr val="1E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1280160"/>
            <a:ext cx="2788920" cy="64008"/>
          </a:xfrm>
          <a:prstGeom prst="rect">
            <a:avLst/>
          </a:prstGeom>
          <a:solidFill>
            <a:srgbClr val="00B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371600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BCB4"/>
                </a:solidFill>
              </a:rPr>
              <a:t>+75 %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92024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4AFD2"/>
                </a:solidFill>
              </a:rPr>
              <a:t>Crecimiento
acumulado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08008" y="1280160"/>
            <a:ext cx="2788920" cy="1234440"/>
          </a:xfrm>
          <a:prstGeom prst="rect">
            <a:avLst/>
          </a:prstGeom>
          <a:solidFill>
            <a:srgbClr val="1E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08008" y="1280160"/>
            <a:ext cx="2788920" cy="6400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8008" y="1371600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C107"/>
                </a:solidFill>
              </a:rPr>
              <a:t>S/. 148.7M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8" y="192024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4AFD2"/>
                </a:solidFill>
              </a:rPr>
              <a:t>Ingresos
acumulados 5 años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342360"/>
            <a:ext cx="1554480" cy="1829839"/>
          </a:xfrm>
          <a:prstGeom prst="rect">
            <a:avLst/>
          </a:prstGeom>
          <a:solidFill>
            <a:srgbClr val="008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9308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CE6"/>
                </a:solidFill>
              </a:rPr>
              <a:t>S/.22.0M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0877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2027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4AFD2"/>
                </a:solidFill>
              </a:rPr>
              <a:t>41,203 susc.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4067885"/>
            <a:ext cx="1554480" cy="210431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14600" y="365640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030A0"/>
                </a:solidFill>
              </a:rPr>
              <a:t>S/.25.4M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620877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2028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6537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4AFD2"/>
                </a:solidFill>
              </a:rPr>
              <a:t>47,383 susc.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3752237"/>
            <a:ext cx="1554480" cy="2419962"/>
          </a:xfrm>
          <a:prstGeom prst="rect">
            <a:avLst/>
          </a:prstGeom>
          <a:solidFill>
            <a:srgbClr val="00B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7720" y="3340757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CB4"/>
                </a:solidFill>
              </a:rPr>
              <a:t>S/.29.2M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620877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2029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537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4AFD2"/>
                </a:solidFill>
              </a:rPr>
              <a:t>54,490 susc.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59" y="3389243"/>
            <a:ext cx="1554480" cy="278295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20840" y="2977763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CAF50"/>
                </a:solidFill>
              </a:rPr>
              <a:t>S/.33.5M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59" y="620877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2030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59" y="6537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4AFD2"/>
                </a:solidFill>
              </a:rPr>
              <a:t>62,664 susc.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69680" y="2971800"/>
            <a:ext cx="1554480" cy="32004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23959" y="25603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107"/>
                </a:solidFill>
              </a:rPr>
              <a:t>S/.38.6M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620877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2031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6537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4AFD2"/>
                </a:solidFill>
              </a:rPr>
              <a:t>72,063 susc.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6172200"/>
            <a:ext cx="11430000" cy="36576"/>
          </a:xfrm>
          <a:prstGeom prst="rect">
            <a:avLst/>
          </a:prstGeom>
          <a:solidFill>
            <a:srgbClr val="935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0040" y="2743200"/>
            <a:ext cx="5303520" cy="548640"/>
          </a:xfrm>
          <a:prstGeom prst="rect">
            <a:avLst/>
          </a:prstGeom>
          <a:solidFill>
            <a:srgbClr val="1E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2816352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4AFD2"/>
                </a:solidFill>
              </a:rPr>
              <a:t>Tasa: 15 % anual  ·  Fuente: HolonIQ EdTech LATAM Report 2024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41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1143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2188952" cy="6400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Conclusiones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0408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AFD2"/>
                </a:solidFill>
              </a:rPr>
              <a:t>Síntesis del análisis de demanda — LegendaryClass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711696"/>
            <a:ext cx="10972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B9EB"/>
                </a:solidFill>
              </a:rPr>
              <a:t>LegendaryClass  ·  Diseño de Proyectos de Innovación  ·  TECSUP  ·  2026 - 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11548872" cy="868680"/>
          </a:xfrm>
          <a:prstGeom prst="rect">
            <a:avLst/>
          </a:prstGeom>
          <a:solidFill>
            <a:srgbClr val="1E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325880"/>
            <a:ext cx="91440" cy="86868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490472"/>
            <a:ext cx="530352" cy="53035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444752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1453895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030A0"/>
                </a:solidFill>
              </a:rPr>
              <a:t>82,406 docentes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1508760"/>
            <a:ext cx="7406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conforman el mercado objetivo en Lima Metropolitana (MINEDU 2024).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313432"/>
            <a:ext cx="11548872" cy="868680"/>
          </a:xfrm>
          <a:prstGeom prst="rect">
            <a:avLst/>
          </a:prstGeom>
          <a:solidFill>
            <a:srgbClr val="1E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313432"/>
            <a:ext cx="91440" cy="868680"/>
          </a:xfrm>
          <a:prstGeom prst="rect">
            <a:avLst/>
          </a:prstGeom>
          <a:solidFill>
            <a:srgbClr val="008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478024"/>
            <a:ext cx="530352" cy="530352"/>
          </a:xfrm>
          <a:prstGeom prst="rect">
            <a:avLst/>
          </a:prstGeom>
          <a:solidFill>
            <a:srgbClr val="008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432304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441448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8CE6"/>
                </a:solidFill>
              </a:rPr>
              <a:t>S/. 535 / año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2496312"/>
            <a:ext cx="7406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precio ponderado validado por disposición de pago real (Q17).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300984"/>
            <a:ext cx="11548872" cy="868680"/>
          </a:xfrm>
          <a:prstGeom prst="rect">
            <a:avLst/>
          </a:prstGeom>
          <a:solidFill>
            <a:srgbClr val="1E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300984"/>
            <a:ext cx="91440" cy="868680"/>
          </a:xfrm>
          <a:prstGeom prst="rect">
            <a:avLst/>
          </a:prstGeom>
          <a:solidFill>
            <a:srgbClr val="00B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465576"/>
            <a:ext cx="530352" cy="530352"/>
          </a:xfrm>
          <a:prstGeom prst="rect">
            <a:avLst/>
          </a:prstGeom>
          <a:solidFill>
            <a:srgbClr val="00B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419856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429000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CB4"/>
                </a:solidFill>
              </a:rPr>
              <a:t>S/. 22M en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3483864"/>
            <a:ext cx="7406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ingresos proyectados en escenario moderado (50 % penetración).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288536"/>
            <a:ext cx="11548872" cy="868680"/>
          </a:xfrm>
          <a:prstGeom prst="rect">
            <a:avLst/>
          </a:prstGeom>
          <a:solidFill>
            <a:srgbClr val="1E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288536"/>
            <a:ext cx="91440" cy="8686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4453128"/>
            <a:ext cx="530352" cy="5303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40740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4416552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107"/>
                </a:solidFill>
              </a:rPr>
              <a:t>S/. 38.5M en 2031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1960" y="4471416"/>
            <a:ext cx="7406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con crecimiento 15 % anual — CAGR EdTech LATAM (HolonIQ 2024).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276088"/>
            <a:ext cx="11548872" cy="868680"/>
          </a:xfrm>
          <a:prstGeom prst="rect">
            <a:avLst/>
          </a:prstGeom>
          <a:solidFill>
            <a:srgbClr val="1E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5276088"/>
            <a:ext cx="91440" cy="8686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5440680"/>
            <a:ext cx="530352" cy="5303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394960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5404104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CAF50"/>
                </a:solidFill>
              </a:rPr>
              <a:t>58 % de docentes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5458968"/>
            <a:ext cx="7406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reportan baja motivación frecuente — necesidad validada por encuesta.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41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31752" y="0"/>
            <a:ext cx="457200" cy="6858000"/>
          </a:xfrm>
          <a:prstGeom prst="rect">
            <a:avLst/>
          </a:prstGeom>
          <a:solidFill>
            <a:srgbClr val="141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1920240"/>
            <a:ext cx="5788152" cy="3017520"/>
          </a:xfrm>
          <a:prstGeom prst="rect">
            <a:avLst/>
          </a:prstGeom>
          <a:solidFill>
            <a:srgbClr val="1E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1920240"/>
            <a:ext cx="5788152" cy="7315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0" y="4864608"/>
            <a:ext cx="5788152" cy="7315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057400"/>
            <a:ext cx="5605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⚔️  LegendaryClass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852928"/>
            <a:ext cx="5605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4AFD2"/>
                </a:solidFill>
              </a:rPr>
              <a:t>Sistema SaaS de Gamificación Educativa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3401568"/>
            <a:ext cx="4572000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3547872"/>
            <a:ext cx="56052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C107"/>
                </a:solidFill>
              </a:rPr>
              <a:t>¡Gracias!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407408"/>
            <a:ext cx="5605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4AFD2"/>
                </a:solidFill>
              </a:rPr>
              <a:t>Aguirre, Juan  ·  Diseño de Proyectos de Innovación  ·  2026 - 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4AFD2"/>
                </a:solidFill>
              </a:rPr>
              <a:t>TECSUP  ·  Ingeniería de Software  ·  V Ciclo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