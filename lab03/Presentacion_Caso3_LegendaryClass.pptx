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8CFF"/>
                </a:solidFill>
              </a:rPr>
              <a:t>LABORATORIO 03 · ANÁLISIS DE DEMANDA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C000"/>
                </a:solidFill>
              </a:rPr>
              <a:t>CASO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LegendaryClass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4B4B4"/>
                </a:solidFill>
              </a:rPr>
              <a:t>Sistema SaaS de Gamificación Educativa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886200"/>
            <a:ext cx="6702552" cy="365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682C8"/>
                </a:solidFill>
              </a:rPr>
              <a:t>Determinación de la Demanda del Mercado · Lima Metropolitana ·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8282"/>
                </a:solidFill>
              </a:rPr>
              <a:t>Juan Aguirre  |  Docente: Lturkowsky  |  2026 -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¿Qué es LegendaryClass?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C8FF"/>
                </a:solidFill>
              </a:rPr>
              <a:t>Descripción del producto / servicio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B4F0"/>
                </a:solidFill>
              </a:rPr>
              <a:t>LegendaryClass · Análisis de Demanda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30A0"/>
                </a:solidFill>
              </a:rPr>
              <a:t>Plataforma SaaS de gamificación que transforma el aula en un RPG educativo.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834640" cy="1828800"/>
          </a:xfrm>
          <a:prstGeom prst="rect">
            <a:avLst/>
          </a:prstGeom>
          <a:solidFill>
            <a:srgbClr val="EB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</a:rPr>
              <a:t>⚔️  5 Clases de Personaje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Mago, Guerrero, Ninja, Arquero, Lanzador
+20 % XP por tipo de acción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834640" cy="1828800"/>
          </a:xfrm>
          <a:prstGeom prst="rect">
            <a:avLst/>
          </a:prstGeom>
          <a:solidFill>
            <a:srgbClr val="EB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</a:rPr>
              <a:t>📊  Motor de Gamificación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774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Niveles, racha diaria, logros
automáticos y misiones configurables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2834640" cy="1828800"/>
          </a:xfrm>
          <a:prstGeom prst="rect">
            <a:avLst/>
          </a:prstGeom>
          <a:solidFill>
            <a:srgbClr val="EB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</a:rPr>
              <a:t>👩‍🏫  Panel del Docente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3774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Registro de comportamientos,
recompensas y reportes de progreso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2834640" cy="1828800"/>
          </a:xfrm>
          <a:prstGeom prst="rect">
            <a:avLst/>
          </a:prstGeom>
          <a:solidFill>
            <a:srgbClr val="EB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</a:rPr>
              <a:t>🏛️  Panel del Director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3774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Estadísticas institucionales
agregadas en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Stack tecnológico:  Angular 18 · NestJS · PostgreSQL · Prisma · TailwindCSS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</a:rPr>
              <a:t>Modelo de negocio:  Suscripción mensual por docente  ·  Precio: S/. 30 – S/. 85 / mes  ·  Sin costo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C8FF"/>
                </a:solidFill>
              </a:rPr>
              <a:t>Instrumento y segmentación en cascada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B4F0"/>
                </a:solidFill>
              </a:rPr>
              <a:t>LegendaryClass · Análisis de Demanda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030A0"/>
                </a:solidFill>
              </a:rPr>
              <a:t>Encuesta digital aplicada a 100 docentes de Lima Metropolitana (feb–mar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2651760" cy="1645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Mercado
Potencial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C000"/>
                </a:solidFill>
              </a:rPr>
              <a:t>185,000
docentes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DCDCDC"/>
                </a:solidFill>
              </a:rPr>
              <a:t>Todos los docentes activos
en Lima Met. (MINEDU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231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030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783080"/>
            <a:ext cx="265176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Mercado
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C000"/>
                </a:solidFill>
              </a:rPr>
              <a:t>177,600
docentes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260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DCDCDC"/>
                </a:solidFill>
              </a:rPr>
              <a:t>Trabajan en institución
educativa actualmente (Q4 · 96 %)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4231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030A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783080"/>
            <a:ext cx="2651760" cy="1645920"/>
          </a:xfrm>
          <a:prstGeom prst="rect">
            <a:avLst/>
          </a:prstGeom>
          <a:solidFill>
            <a:srgbClr val="00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Mercado
Efectivo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C000"/>
                </a:solidFill>
              </a:rPr>
              <a:t>103,008
docentes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9260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DCDCDC"/>
                </a:solidFill>
              </a:rPr>
              <a:t>Perciben baja motivación
frecuente o siempre (Q6 · 58 %)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4231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030A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783080"/>
            <a:ext cx="2651760" cy="1645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Mercado
Objetivo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C000"/>
                </a:solidFill>
              </a:rPr>
              <a:t>82,406
docentes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9260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DCDCDC"/>
                </a:solidFill>
              </a:rPr>
              <a:t>Dispuestos a implementar
una solución (Q13 · 80 %)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30A0"/>
                </a:solidFill>
              </a:rPr>
              <a:t>Resultado: 82,406 docentes en Lima Metropolitana son el mercado objetivo de LegendaryClass.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05050"/>
                </a:solidFill>
              </a:rPr>
              <a:t>Fuente de mercado potencial: MINEDU – ESCALE 2024  ·  Filtros aplicados con base en respuestas de la encuesta propia (n=100)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Análisis de Precio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C8FF"/>
                </a:solidFill>
              </a:rPr>
              <a:t>Disposición de pago (Q17) — 61 respondentes con intención definitiva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B4F0"/>
                </a:solidFill>
              </a:rPr>
              <a:t>LegendaryClass · Análisis de Demanda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29184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C8C8"/>
                </a:solidFill>
              </a:rPr>
              <a:t>Rango: S/.20–40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</a:rPr>
              <a:t>S/. 30 /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35 docentes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FFB4"/>
                </a:solidFill>
              </a:rPr>
              <a:t>S/. 360 / año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291840" cy="228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C8C8"/>
                </a:solidFill>
              </a:rPr>
              <a:t>Rango: S/.41–70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62763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</a:rPr>
              <a:t>S/. 55 /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677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18 docentes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FFB4"/>
                </a:solidFill>
              </a:rPr>
              <a:t>S/. 660 / año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234440"/>
            <a:ext cx="3291840" cy="2286000"/>
          </a:xfrm>
          <a:prstGeom prst="rect">
            <a:avLst/>
          </a:prstGeom>
          <a:solidFill>
            <a:srgbClr val="00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C8C8"/>
                </a:solidFill>
              </a:rPr>
              <a:t>Rango: S/.71–100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2763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</a:rPr>
              <a:t>S/. 85 /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677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8 docentes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FFB4"/>
                </a:solidFill>
              </a:rPr>
              <a:t>S/. 1,020 / año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703320"/>
            <a:ext cx="7616952" cy="9601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3730752"/>
            <a:ext cx="7616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CC8FF"/>
                </a:solidFill>
              </a:rPr>
              <a:t>Precio Ponderado 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6908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C000"/>
                </a:solidFill>
              </a:rPr>
              <a:t>S/. 535.08 / docente / año   (~S/. 44.59 / mes)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</a:rPr>
              <a:t>Cálculo: (35×S/.360 + 18×S/.660 + 8×S/.1,020) ÷ 61 = S/.32,640 ÷ 61 = S/.535.08 / 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Escenarios de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C8FF"/>
                </a:solidFill>
              </a:rPr>
              <a:t>Año de lanzamiento 2027 · Mercado Objetivo: 82,406 docentes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B4F0"/>
                </a:solidFill>
              </a:rPr>
              <a:t>LegendaryClass · Análisis de Demanda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657600" cy="3474720"/>
          </a:xfrm>
          <a:prstGeom prst="rect">
            <a:avLst/>
          </a:prstGeom>
          <a:solidFill>
            <a:srgbClr val="DC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3657600" cy="5486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0700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OPTIMISTA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Penetración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48235"/>
                </a:solidFill>
              </a:rPr>
              <a:t>80 %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Suscripciones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</a:rPr>
              <a:t>65,925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Ingresos anuales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776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48235"/>
                </a:solidFill>
              </a:rPr>
              <a:t>S/. 35,274,015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188720"/>
            <a:ext cx="3657600" cy="347472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188720"/>
            <a:ext cx="36576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20700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MODERADO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Penetración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48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0C0"/>
                </a:solidFill>
              </a:rPr>
              <a:t>50 %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Suscripciones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</a:rPr>
              <a:t>41,203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Ingresos anuales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9776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S/. 22,046,259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188720"/>
            <a:ext cx="3657600" cy="3474720"/>
          </a:xfrm>
          <a:prstGeom prst="rect">
            <a:avLst/>
          </a:prstGeom>
          <a:solidFill>
            <a:srgbClr val="FA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1188720"/>
            <a:ext cx="36576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20700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PESIMISTA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Penetración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148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0000"/>
                </a:solidFill>
              </a:rPr>
              <a:t>30 %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Suscripciones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</a:rPr>
              <a:t>24,722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Ingresos anuales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9776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</a:rPr>
              <a:t>S/. 13,227,786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</a:rPr>
              <a:t>Precio base: S/. 535.08 / año  ·  Demanda = Mercado Objetivo × % de penetración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Proyección 2027–2031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C8FF"/>
                </a:solidFill>
              </a:rPr>
              <a:t>Escenario Moderado · Crecimiento anual: 15 % (HolonIQ EdTech LATAM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B4F0"/>
                </a:solidFill>
              </a:rPr>
              <a:t>LegendaryClass · Análisis de Demanda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48208"/>
            <a:ext cx="1828800" cy="146387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382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030A0"/>
                </a:solidFill>
              </a:rPr>
              <a:t>S/.22.0M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605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050"/>
                </a:solidFill>
              </a:rPr>
              <a:t>41,203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528628"/>
            <a:ext cx="1828800" cy="168345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31628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0C0"/>
                </a:solidFill>
              </a:rPr>
              <a:t>S/.25.4M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605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050"/>
                </a:solidFill>
              </a:rPr>
              <a:t>47,383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3276110"/>
            <a:ext cx="1828800" cy="1935969"/>
          </a:xfrm>
          <a:prstGeom prst="rect">
            <a:avLst/>
          </a:prstGeom>
          <a:solidFill>
            <a:srgbClr val="00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91035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9682"/>
                </a:solidFill>
              </a:rPr>
              <a:t>S/.29.2M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605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050"/>
                </a:solidFill>
              </a:rPr>
              <a:t>54,490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985714"/>
            <a:ext cx="1828800" cy="222636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61995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548235"/>
                </a:solidFill>
              </a:rPr>
              <a:t>S/.33.5M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</a:rPr>
              <a:t>2030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605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050"/>
                </a:solidFill>
              </a:rPr>
              <a:t>62,664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651760"/>
            <a:ext cx="1828800" cy="2560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C000"/>
                </a:solidFill>
              </a:rPr>
              <a:t>S/.38.6M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</a:rPr>
              <a:t>2031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5605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050"/>
                </a:solidFill>
              </a:rPr>
              <a:t>72,063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188720"/>
            <a:ext cx="3017520" cy="11887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2618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41,203 → 72,063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84708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CD2FF"/>
                </a:solidFill>
              </a:rPr>
              <a:t>Suscripciones
2027 → 2031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1188720"/>
            <a:ext cx="3017520" cy="1188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12618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+75 %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184708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CD2FF"/>
                </a:solidFill>
              </a:rPr>
              <a:t>Crecimiento
acumulado 5 años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188720"/>
            <a:ext cx="3017520" cy="11887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2618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S/. 148.7M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4708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CD2FF"/>
                </a:solidFill>
              </a:rPr>
              <a:t>Ingresos
acumulados 2027-31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Suscripciones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82,406 docentes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98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C8DC"/>
                </a:solidFill>
              </a:rPr>
              <a:t>en Lima Metropolitana conforman el mercado objetivo de LegendaryClass.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S/. 535 / 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128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C8DC"/>
                </a:solidFill>
              </a:rPr>
              <a:t>es el precio ponderado de disposición de pago entre docentes interesados.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S/. 22M en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272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C8DC"/>
                </a:solidFill>
              </a:rPr>
              <a:t>de ingresos proyectados en el escenario moderado (50 % penetración).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S/. 38.5M en 2031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416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C8DC"/>
                </a:solidFill>
              </a:rPr>
              <a:t>alcanzables con crecimiento del 15 % anual (EdTech LATAM CAGR).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000"/>
                </a:solidFill>
              </a:rPr>
              <a:t>58 % de docentes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560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C8DC"/>
                </a:solidFill>
              </a:rPr>
              <a:t>reportan baja motivación estudiantil frecuente — necesidad real y validada.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0"/>
            <a:ext cx="301752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⚔️  LegendaryClass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A0E6"/>
                </a:solidFill>
              </a:rPr>
              <a:t>Transformando el aula en una experiencia legendaria.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840480"/>
            <a:ext cx="4873752" cy="457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000"/>
                </a:solidFill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8282"/>
                </a:solidFill>
              </a:rPr>
              <a:t>Juan Aguirre  |  Ingeniería de Software  |  2026 -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