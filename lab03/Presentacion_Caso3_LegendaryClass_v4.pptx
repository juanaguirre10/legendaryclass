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8531352" cy="14630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0"/>
            <a:ext cx="3959352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417320"/>
            <a:ext cx="3044952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4952" y="1417320"/>
            <a:ext cx="3044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9904" y="1417320"/>
            <a:ext cx="30449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1417320"/>
            <a:ext cx="3044952" cy="73152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BBF24"/>
                </a:solidFill>
              </a:rPr>
              <a:t>LEGENDARYCLASS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828800"/>
            <a:ext cx="706831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80"/>
            <a:ext cx="6702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</a:rPr>
              <a:t>⚔️  Bienvenido al Portal de Aventureros  ⚔️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78608"/>
            <a:ext cx="63367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697480"/>
            <a:ext cx="6702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</a:rPr>
              <a:t>Diseño de Proyectos de Innovación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154680"/>
            <a:ext cx="6702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7706"/>
                </a:solidFill>
              </a:rPr>
              <a:t>Caso 3 — Parte Práctica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657600"/>
            <a:ext cx="63367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749039"/>
            <a:ext cx="6702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</a:rPr>
              <a:t>Docente:  Turkowsky Vizcarra, Luisa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114800"/>
            <a:ext cx="6702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151"/>
                </a:solidFill>
              </a:rPr>
              <a:t>Alumno:   Aguirre, Juan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553712"/>
            <a:ext cx="6702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TECSUP  ·  Ingeniería de Software  ·  V Ciclo  ·  2026 - 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983480"/>
            <a:ext cx="63367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5074920"/>
            <a:ext cx="6702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97706"/>
                </a:solidFill>
              </a:rPr>
              <a:t>Determinación de la Demanda del Mercado  ·  Lima Metropolitana  · 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2952" y="457200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7616952" cy="12344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0"/>
            <a:ext cx="39593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30449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4952" y="1188720"/>
            <a:ext cx="3044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9904" y="1188720"/>
            <a:ext cx="30449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1188720"/>
            <a:ext cx="3044952" cy="6400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DESCRIPCIÓN DEL PRODUCTO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FD"/>
                </a:solidFill>
              </a:rPr>
              <a:t>LegendaryClass — Sistema SaaS de Gamificación Educativa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72084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B5FD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389888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</a:rPr>
              <a:t>Transforma el aula en un RPG educativo. Los estudiantes eligen clase de personaje, acumulan XP, suben de nivel y canjean recompensas. El docente gestiona comportamientos, misiones y reportes.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212848"/>
            <a:ext cx="2788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212848"/>
            <a:ext cx="2788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30428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</a:rPr>
              <a:t>⚔️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834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5 Clases RPG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Mago · Guerrero · Ninja
Arquero · Lanzador
+20 % XP por tipo de acción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4992" y="2212848"/>
            <a:ext cx="2788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64992" y="2212848"/>
            <a:ext cx="2788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230428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</a:rP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2834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Motor de XP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3255264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Niveles progresivos, racha
diaria y logros automáticos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18504" y="2212848"/>
            <a:ext cx="2788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18504" y="2212848"/>
            <a:ext cx="2788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230428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</a:rPr>
              <a:t>👩‍🏫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2834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Panel Docente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3255264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Comportamientos, recompensas
y reportes por aula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72015" y="2212848"/>
            <a:ext cx="2788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72015" y="2212848"/>
            <a:ext cx="2788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9176" y="230428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</a:rPr>
              <a:t>🏛️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9176" y="2834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Panel Director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9176" y="3255264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Estadísticas globales
de la institución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983480"/>
            <a:ext cx="113659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09320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Stack:  Angular 18  ·  NestJS  ·  PostgreSQL  ·  Prisma  ·  TailwindCSS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54589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Precio:  S/. 30 – 85 / mes por docente   ·   Sin costo para estudiantes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2952" y="457200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7616952" cy="12344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0"/>
            <a:ext cx="39593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30449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4952" y="1188720"/>
            <a:ext cx="3044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9904" y="1188720"/>
            <a:ext cx="30449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1188720"/>
            <a:ext cx="3044952" cy="6400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METODOLOGÍA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FD"/>
                </a:solidFill>
              </a:rPr>
              <a:t>Encuesta a 100 docentes · Lima Metropolitana · feb–mar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72084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B5FD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389888"/>
            <a:ext cx="5212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1389888"/>
            <a:ext cx="5212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48132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Encuesta de campo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19202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·  100 docentes · Lima Metropolitana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24942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·  Google Forms · 20 preguntas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57860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·  Periodo: febrero – marzo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1389888"/>
            <a:ext cx="587959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1389888"/>
            <a:ext cx="587959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48132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Preguntas clave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192024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Q4  — Situación laboral  →  Disponible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24942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Q6  — Baja motivación  →  Efectivo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257860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Q13 — Disposición gamificación  →  Objetivo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90779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Q17 — Disposición de pago  →  Precio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0632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Segmentación en Cascada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547872"/>
            <a:ext cx="2788920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3547872"/>
            <a:ext cx="27889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6301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POTENCIAL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00507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</a:rPr>
              <a:t>185,000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617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8B496"/>
                </a:solidFill>
              </a:rPr>
              <a:t>MINEDU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160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64992" y="3547872"/>
            <a:ext cx="2788920" cy="210312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64992" y="3547872"/>
            <a:ext cx="27889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02152" y="36301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DISPONIBLE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2152" y="400507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</a:rPr>
              <a:t>177,600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02152" y="4617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8B496"/>
                </a:solidFill>
              </a:rPr>
              <a:t>× 96 %  (Q4)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3912" y="4160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18504" y="3547872"/>
            <a:ext cx="2788920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18504" y="3547872"/>
            <a:ext cx="27889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55664" y="36301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EFECTIVO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400507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</a:rPr>
              <a:t>103,008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5664" y="4617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8B496"/>
                </a:solidFill>
              </a:rPr>
              <a:t>× 58 %  (Q6)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07424" y="4160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72015" y="3547872"/>
            <a:ext cx="2788920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72015" y="3547872"/>
            <a:ext cx="27889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09176" y="36301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OBJETIVO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09176" y="400507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82,406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09176" y="4617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</a:rPr>
              <a:t>× 80 %  (Q13)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2952" y="457200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7616952" cy="12344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0"/>
            <a:ext cx="39593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30449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4952" y="1188720"/>
            <a:ext cx="3044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9904" y="1188720"/>
            <a:ext cx="30449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1188720"/>
            <a:ext cx="3044952" cy="6400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RESULTADOS DE LA ENCUESTA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FD"/>
                </a:solidFill>
              </a:rPr>
              <a:t>Preguntas clave para la segmentación  ·  n = 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72084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B5FD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38988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Q6  —  Frecuencia de baja motivación estudiantil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874519"/>
            <a:ext cx="6400800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1874519"/>
            <a:ext cx="3576320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19933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Siempre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9240" y="1993391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22 %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9320" y="201167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7706"/>
                </a:solidFill>
              </a:rPr>
              <a:t>← incluido en filtro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532887"/>
            <a:ext cx="6400800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532887"/>
            <a:ext cx="585216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6517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Frecuentemente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651759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36 %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67004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7706"/>
                </a:solidFill>
              </a:rPr>
              <a:t>← incluido en filtro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191256"/>
            <a:ext cx="6400800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191256"/>
            <a:ext cx="4876800" cy="53035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3101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A veces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79720" y="3310127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30 %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849624"/>
            <a:ext cx="6400800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3849624"/>
            <a:ext cx="1300480" cy="53035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9684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Raramente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3400" y="396849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8 %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507992"/>
            <a:ext cx="6400800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4507992"/>
            <a:ext cx="650240" cy="53035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6268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Nunca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3160" y="46268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4 %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166360"/>
            <a:ext cx="6400800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285232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Siempre + Frecuentemente  =  58 %   →   Mercado Efectivo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138988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Resumen por pregunta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1874519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0" y="1874519"/>
            <a:ext cx="4663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9480" y="19842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Q4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19476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96 %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20391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Trabajan en institución educativa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0" y="2898648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0" y="2898648"/>
            <a:ext cx="4663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9480" y="300837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Q6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2971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1C87"/>
                </a:solidFill>
              </a:rPr>
              <a:t>58 %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3063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Baja motivación frecuente/siempre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3922776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32320" y="3922776"/>
            <a:ext cx="4663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69480" y="403250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Q13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39959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</a:rPr>
              <a:t>80 %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40873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Implementarían gamificación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0" y="4946904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32320" y="4946904"/>
            <a:ext cx="4663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69480" y="50566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Q17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50200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74151"/>
                </a:solidFill>
              </a:rPr>
              <a:t>61/100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51114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Con intención definitiva de pago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2952" y="457200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7616952" cy="12344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0"/>
            <a:ext cx="39593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30449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4952" y="1188720"/>
            <a:ext cx="3044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9904" y="1188720"/>
            <a:ext cx="30449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1188720"/>
            <a:ext cx="3044952" cy="6400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ANÁLISIS DE PRECIO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FD"/>
                </a:solidFill>
              </a:rPr>
              <a:t>Q17 — Disposición de pago  ·  61 respondentes con intención definitiva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72084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B5FD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389888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1389888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4813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S/. 20 – 40 / 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874519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F172A"/>
                </a:solidFill>
              </a:rPr>
              <a:t>S/. 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697480"/>
            <a:ext cx="30175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88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97706"/>
                </a:solidFill>
              </a:rPr>
              <a:t>S/. 360 / año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3101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35 docentes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389888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1389888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14813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S/. 41 – 70 / 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1874519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81C87"/>
                </a:solidFill>
              </a:rPr>
              <a:t>S/. 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697480"/>
            <a:ext cx="30175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788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97706"/>
                </a:solidFill>
              </a:rPr>
              <a:t>S/. 660 / año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3101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18 docentes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1389888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01000" y="1389888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14813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S/. 71 – 100 / 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1874519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7C3AED"/>
                </a:solidFill>
              </a:rPr>
              <a:t>S/. 85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2697480"/>
            <a:ext cx="30175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2788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97706"/>
                </a:solidFill>
              </a:rPr>
              <a:t>S/. 1,020 / año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3101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8 docentes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846320"/>
            <a:ext cx="1136599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4846320"/>
            <a:ext cx="1136599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6153912"/>
            <a:ext cx="1136599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9194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BBF24"/>
                </a:solidFill>
              </a:rPr>
              <a:t>Precio Ponderado Anual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3035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S/. 535.08 / docente / año   ≈   S/. 44.59 / mes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90702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4B5FD"/>
                </a:solidFill>
              </a:rPr>
              <a:t>( 35 × S/.360  +  18 × S/.660  +  8 × S/.1,020 )  ÷  61  =  S/.32,640 ÷ 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2952" y="457200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7616952" cy="12344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0"/>
            <a:ext cx="39593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30449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4952" y="1188720"/>
            <a:ext cx="3044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9904" y="1188720"/>
            <a:ext cx="30449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1188720"/>
            <a:ext cx="3044952" cy="6400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ESCENARIOS DE DEMANDA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FD"/>
                </a:solidFill>
              </a:rPr>
              <a:t>Año 2027  ·  Mercado Objetivo: 82,406 docentes  ·  Precio: S/. 535.08 / año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72084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B5FD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389888"/>
            <a:ext cx="3730752" cy="4956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1389888"/>
            <a:ext cx="37307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6281928"/>
            <a:ext cx="37307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148132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Optimista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19659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80 %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9992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B5FD"/>
                </a:solidFill>
              </a:rPr>
              <a:t>penetración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401568"/>
            <a:ext cx="318211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5112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B5FD"/>
                </a:solidFill>
              </a:rPr>
              <a:t>Suscripciones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8404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65,925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80560"/>
            <a:ext cx="318211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590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B5FD"/>
                </a:solidFill>
              </a:rPr>
              <a:t>Ingresos anuales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9377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BBF24"/>
                </a:solidFill>
              </a:rPr>
              <a:t>S/. 35,274,015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1389888"/>
            <a:ext cx="3730752" cy="4956048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1389888"/>
            <a:ext cx="37307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6281928"/>
            <a:ext cx="37307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148132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Moderado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19659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50 %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29992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B5FD"/>
                </a:solidFill>
              </a:rPr>
              <a:t>penetración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3401568"/>
            <a:ext cx="318211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35112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B5FD"/>
                </a:solidFill>
              </a:rPr>
              <a:t>Suscripciones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38404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41,203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4480560"/>
            <a:ext cx="318211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4590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B5FD"/>
                </a:solidFill>
              </a:rPr>
              <a:t>Ingresos anuales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49377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BBF24"/>
                </a:solidFill>
              </a:rPr>
              <a:t>S/. 22,046,259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19" y="1389888"/>
            <a:ext cx="3730752" cy="495604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19" y="1389888"/>
            <a:ext cx="37307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19" y="6281928"/>
            <a:ext cx="37307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199" y="148132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Pesimista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199" y="19659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30 %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199" y="29992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B5FD"/>
                </a:solidFill>
              </a:rPr>
              <a:t>penetración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3401568"/>
            <a:ext cx="318211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199" y="35112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B5FD"/>
                </a:solidFill>
              </a:rPr>
              <a:t>Suscripciones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199" y="38404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24,722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49640" y="4480560"/>
            <a:ext cx="318211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199" y="4590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B5FD"/>
                </a:solidFill>
              </a:rPr>
              <a:t>Ingresos anuales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199" y="49377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BBF24"/>
                </a:solidFill>
              </a:rPr>
              <a:t>S/. 13,227,786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Demanda = Mercado Objetivo × % Penetración   ·   Ingreso = Demanda × S/. 535.08 / 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2952" y="457200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7616952" cy="12344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0"/>
            <a:ext cx="39593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30449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4952" y="1188720"/>
            <a:ext cx="3044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9904" y="1188720"/>
            <a:ext cx="30449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1188720"/>
            <a:ext cx="3044952" cy="6400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PROYECCIÓN 2027–2031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FD"/>
                </a:solidFill>
              </a:rPr>
              <a:t>Escenario Moderado  ·  Crecimiento anual: +15 %  ·  HolonIQ EdTech LATAM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72084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B5FD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389888"/>
            <a:ext cx="3730752" cy="11155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1389888"/>
            <a:ext cx="373075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46304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</a:rPr>
              <a:t>41,203 → 72,063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0116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B5FD"/>
                </a:solidFill>
              </a:rPr>
              <a:t>Suscripciones  2027→2031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389888"/>
            <a:ext cx="3730752" cy="1115568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1389888"/>
            <a:ext cx="373075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146304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</a:rPr>
              <a:t>+75 %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0116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B5FD"/>
                </a:solidFill>
              </a:rPr>
              <a:t>Crecimiento acumulado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1389888"/>
            <a:ext cx="3730752" cy="11155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1389888"/>
            <a:ext cx="373075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9" y="146304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</a:rPr>
              <a:t>S/. 148.7M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199" y="20116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B5FD"/>
                </a:solidFill>
              </a:rPr>
              <a:t>Ingresos acumulados 5 años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053328"/>
            <a:ext cx="110642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328051"/>
            <a:ext cx="1572768" cy="17252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328051"/>
            <a:ext cx="1572768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44003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S/.22.0M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108192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</a:rPr>
              <a:t>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37376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41,203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069259"/>
            <a:ext cx="1572768" cy="1984068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0" y="4069259"/>
            <a:ext cx="1572768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97480" y="3685211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1C87"/>
                </a:solidFill>
              </a:rPr>
              <a:t>S/.25.4M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6108192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</a:rPr>
              <a:t>2028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6437376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47,383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3771649"/>
            <a:ext cx="1572768" cy="228167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54880" y="3771649"/>
            <a:ext cx="1572768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60" y="3387601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S/.29.2M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6108192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</a:rPr>
              <a:t>2029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6437376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54,490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0" y="3429397"/>
            <a:ext cx="1572768" cy="262393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66560" y="3429397"/>
            <a:ext cx="1572768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3045349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S/.33.5M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6108192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</a:rPr>
              <a:t>2030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6437376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62,664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78240" y="3035808"/>
            <a:ext cx="1572768" cy="3017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778240" y="3035808"/>
            <a:ext cx="1572768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32520" y="265176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S/.38.6M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6108192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</a:rPr>
              <a:t>2031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6437376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72,063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492240"/>
            <a:ext cx="11365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</a:rPr>
              <a:t>Fuente: HolonIQ EdTech LATAM Report 2024  ·  CAGR 15 % para plataformas SaaS educativas en Perú y LATAM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2952" y="4572000"/>
            <a:ext cx="2286000" cy="22860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7616952" cy="12344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0"/>
            <a:ext cx="39593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30449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4952" y="1188720"/>
            <a:ext cx="3044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9904" y="1188720"/>
            <a:ext cx="30449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1188720"/>
            <a:ext cx="3044952" cy="6400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CONCLUSIONES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FD"/>
                </a:solidFill>
              </a:rPr>
              <a:t>Síntesis del análisis de demanda — LegendaryClass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72084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B5FD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389888"/>
            <a:ext cx="113659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1389888"/>
            <a:ext cx="109728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1389888"/>
            <a:ext cx="113659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157276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154533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</a:rPr>
              <a:t>82,406 docentes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1572768"/>
            <a:ext cx="7223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conforman el mercado objetivo en Lima Metropolitana (MINEDU 2024).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331720"/>
            <a:ext cx="113659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331720"/>
            <a:ext cx="109728" cy="82296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2331720"/>
            <a:ext cx="113659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514600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1C87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24871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1C87"/>
                </a:solidFill>
              </a:rPr>
              <a:t>S/. 535 / año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2514600"/>
            <a:ext cx="7223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precio ponderado validado por disposición de pago real (Q17).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273552"/>
            <a:ext cx="113659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3273552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273552"/>
            <a:ext cx="113659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456432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34290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</a:rPr>
              <a:t>S/. 22M en 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3456432"/>
            <a:ext cx="7223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ingresos proyectados en escenario moderado (50 % penetración).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215383"/>
            <a:ext cx="113659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4215383"/>
            <a:ext cx="109728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4215383"/>
            <a:ext cx="113659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398264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4370831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</a:rPr>
              <a:t>S/. 38.5M en 2031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4398264"/>
            <a:ext cx="7223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con crecimiento anual del 15 % — CAGR EdTech LATAM (HolonIQ 2024).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157216"/>
            <a:ext cx="113659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5157216"/>
            <a:ext cx="109728" cy="8229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5157216"/>
            <a:ext cx="113659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340096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74151"/>
                </a:solidFill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" y="531266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74151"/>
                </a:solidFill>
              </a:rPr>
              <a:t>58 % de docentes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60" y="5340096"/>
            <a:ext cx="7223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reportan baja motivación frecuente — necesidad real y cuantificada.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8531352" cy="14630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0"/>
            <a:ext cx="3959352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BBF24"/>
                </a:solidFill>
              </a:rPr>
              <a:t>LEGENDARYCLASS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011680"/>
            <a:ext cx="578815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1488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F2937"/>
                </a:solidFill>
              </a:rPr>
              <a:t>⚔️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788920"/>
            <a:ext cx="5422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</a:rPr>
              <a:t>Sistema SaaS de Gamificación Educativa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3291840"/>
            <a:ext cx="469087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3429000"/>
            <a:ext cx="5422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</a:rPr>
              <a:t>¡Gracias!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4187952"/>
            <a:ext cx="469087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297680"/>
            <a:ext cx="5422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Aguirre, Juan  ·  Diseño de Proyectos de Innovación  ·  2026 -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663440"/>
            <a:ext cx="5422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TECSUP  ·  Ingeniería de Software  ·  V Ciclo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